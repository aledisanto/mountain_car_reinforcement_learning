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F8F06C-0F37-4356-AC30-3C7C098CCB9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A9A177-5216-492B-8D06-543275DE11A0}">
      <dgm:prSet/>
      <dgm:spPr/>
      <dgm:t>
        <a:bodyPr/>
        <a:lstStyle/>
        <a:p>
          <a:r>
            <a:rPr lang="it-IT" b="1" dirty="0">
              <a:latin typeface="Aptos Narrow" panose="020B0004020202020204" pitchFamily="34" charset="0"/>
            </a:rPr>
            <a:t>TASK: </a:t>
          </a:r>
          <a:r>
            <a:rPr lang="en-US" b="0" dirty="0">
              <a:latin typeface="Aptos Narrow" panose="020B0004020202020204" pitchFamily="34" charset="0"/>
            </a:rPr>
            <a:t>drive a car to the top of a steep mountain road. </a:t>
          </a:r>
          <a:endParaRPr lang="it-IT" b="0" dirty="0">
            <a:latin typeface="Aptos Narrow" panose="020B0004020202020204" pitchFamily="34" charset="0"/>
          </a:endParaRPr>
        </a:p>
      </dgm:t>
    </dgm:pt>
    <dgm:pt modelId="{21E37D7A-7814-43A3-8E44-6ED9D4478A62}" type="parTrans" cxnId="{920B0A85-2F0D-4550-8CF7-456EC559AC16}">
      <dgm:prSet/>
      <dgm:spPr/>
      <dgm:t>
        <a:bodyPr/>
        <a:lstStyle/>
        <a:p>
          <a:endParaRPr lang="en-US"/>
        </a:p>
      </dgm:t>
    </dgm:pt>
    <dgm:pt modelId="{1DB63772-7A0D-45B1-B597-5A85E1309C2A}" type="sibTrans" cxnId="{920B0A85-2F0D-4550-8CF7-456EC559AC16}">
      <dgm:prSet/>
      <dgm:spPr/>
      <dgm:t>
        <a:bodyPr/>
        <a:lstStyle/>
        <a:p>
          <a:endParaRPr lang="en-US"/>
        </a:p>
      </dgm:t>
    </dgm:pt>
    <dgm:pt modelId="{9C323A14-BA2D-4DD4-8B93-07E9BBDDE964}">
      <dgm:prSet/>
      <dgm:spPr/>
      <dgm:t>
        <a:bodyPr/>
        <a:lstStyle/>
        <a:p>
          <a:r>
            <a:rPr lang="it-IT" b="1" dirty="0">
              <a:latin typeface="Aptos Narrow" panose="020B0004020202020204" pitchFamily="34" charset="0"/>
            </a:rPr>
            <a:t>PROBLEM</a:t>
          </a:r>
          <a:r>
            <a:rPr lang="it-IT" dirty="0">
              <a:latin typeface="Aptos Narrow" panose="020B0004020202020204" pitchFamily="34" charset="0"/>
            </a:rPr>
            <a:t>: </a:t>
          </a:r>
          <a:r>
            <a:rPr lang="en-US" dirty="0">
              <a:latin typeface="Aptos Narrow" panose="020B0004020202020204" pitchFamily="34" charset="0"/>
            </a:rPr>
            <a:t>the gravitational force is greater than the maximum force the engine can apply, so the agent cannot achieve the goal by accelerating forward alone.</a:t>
          </a:r>
          <a:endParaRPr lang="it-IT" dirty="0">
            <a:latin typeface="Aptos Narrow" panose="020B0004020202020204" pitchFamily="34" charset="0"/>
          </a:endParaRPr>
        </a:p>
      </dgm:t>
    </dgm:pt>
    <dgm:pt modelId="{3105D25C-0784-405B-B9C2-295BC9717EC8}" type="parTrans" cxnId="{7ADA2DFB-BE9E-4F94-A124-48DFB16869B5}">
      <dgm:prSet/>
      <dgm:spPr/>
      <dgm:t>
        <a:bodyPr/>
        <a:lstStyle/>
        <a:p>
          <a:endParaRPr lang="en-US"/>
        </a:p>
      </dgm:t>
    </dgm:pt>
    <dgm:pt modelId="{8F7AF8B4-7798-4A9A-9E0B-60DF971C5228}" type="sibTrans" cxnId="{7ADA2DFB-BE9E-4F94-A124-48DFB16869B5}">
      <dgm:prSet/>
      <dgm:spPr/>
      <dgm:t>
        <a:bodyPr/>
        <a:lstStyle/>
        <a:p>
          <a:endParaRPr lang="en-US"/>
        </a:p>
      </dgm:t>
    </dgm:pt>
    <dgm:pt modelId="{6CDBDB8F-81B6-48AE-B32A-EFB6738C1917}">
      <dgm:prSet/>
      <dgm:spPr/>
      <dgm:t>
        <a:bodyPr/>
        <a:lstStyle/>
        <a:p>
          <a:r>
            <a:rPr lang="it-IT" b="1" dirty="0">
              <a:latin typeface="Aptos Narrow" panose="020B0004020202020204" pitchFamily="34" charset="0"/>
            </a:rPr>
            <a:t>SOLUTION</a:t>
          </a:r>
          <a:r>
            <a:rPr lang="it-IT" dirty="0">
              <a:latin typeface="Aptos Narrow" panose="020B0004020202020204" pitchFamily="34" charset="0"/>
            </a:rPr>
            <a:t>: </a:t>
          </a:r>
          <a:r>
            <a:rPr lang="en-US" dirty="0">
              <a:latin typeface="Aptos Narrow" panose="020B0004020202020204" pitchFamily="34" charset="0"/>
            </a:rPr>
            <a:t>the agent will have to learn how to climb the opposite slope, to accumulate enough energy in order to reach the goal.</a:t>
          </a:r>
          <a:endParaRPr lang="it-IT" dirty="0">
            <a:latin typeface="Aptos Narrow" panose="020B0004020202020204" pitchFamily="34" charset="0"/>
          </a:endParaRPr>
        </a:p>
      </dgm:t>
    </dgm:pt>
    <dgm:pt modelId="{518BFC99-D445-42BF-B432-15CA7B830B1F}" type="parTrans" cxnId="{5E3C7AAD-B5A5-499E-B691-77C645D72B8E}">
      <dgm:prSet/>
      <dgm:spPr/>
      <dgm:t>
        <a:bodyPr/>
        <a:lstStyle/>
        <a:p>
          <a:endParaRPr lang="en-US"/>
        </a:p>
      </dgm:t>
    </dgm:pt>
    <dgm:pt modelId="{8DD6B2F7-6006-4174-A6F6-822ABB39A6D0}" type="sibTrans" cxnId="{5E3C7AAD-B5A5-499E-B691-77C645D72B8E}">
      <dgm:prSet/>
      <dgm:spPr/>
      <dgm:t>
        <a:bodyPr/>
        <a:lstStyle/>
        <a:p>
          <a:endParaRPr lang="en-US"/>
        </a:p>
      </dgm:t>
    </dgm:pt>
    <dgm:pt modelId="{58D735D8-6E2A-4DE1-A447-3956E1951C0C}" type="pres">
      <dgm:prSet presAssocID="{40F8F06C-0F37-4356-AC30-3C7C098CCB98}" presName="root" presStyleCnt="0">
        <dgm:presLayoutVars>
          <dgm:dir/>
          <dgm:resizeHandles val="exact"/>
        </dgm:presLayoutVars>
      </dgm:prSet>
      <dgm:spPr/>
    </dgm:pt>
    <dgm:pt modelId="{DC831D7C-352B-48E8-990A-F04588BCB603}" type="pres">
      <dgm:prSet presAssocID="{D5A9A177-5216-492B-8D06-543275DE11A0}" presName="compNode" presStyleCnt="0"/>
      <dgm:spPr/>
    </dgm:pt>
    <dgm:pt modelId="{AC4763A2-B4C2-4E2F-B4AE-556F96C65CC6}" type="pres">
      <dgm:prSet presAssocID="{D5A9A177-5216-492B-8D06-543275DE11A0}" presName="bgRect" presStyleLbl="bgShp" presStyleIdx="0" presStyleCnt="3"/>
      <dgm:spPr/>
    </dgm:pt>
    <dgm:pt modelId="{6C2EE628-7513-4DC9-9CFE-3CBDFA0E9F93}" type="pres">
      <dgm:prSet presAssocID="{D5A9A177-5216-492B-8D06-543275DE11A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agne"/>
        </a:ext>
      </dgm:extLst>
    </dgm:pt>
    <dgm:pt modelId="{DF3B8470-0214-46F2-A9A0-CAEC71D684AC}" type="pres">
      <dgm:prSet presAssocID="{D5A9A177-5216-492B-8D06-543275DE11A0}" presName="spaceRect" presStyleCnt="0"/>
      <dgm:spPr/>
    </dgm:pt>
    <dgm:pt modelId="{E51A54A8-1CE3-461C-BFBA-ECD35347D6CF}" type="pres">
      <dgm:prSet presAssocID="{D5A9A177-5216-492B-8D06-543275DE11A0}" presName="parTx" presStyleLbl="revTx" presStyleIdx="0" presStyleCnt="3">
        <dgm:presLayoutVars>
          <dgm:chMax val="0"/>
          <dgm:chPref val="0"/>
        </dgm:presLayoutVars>
      </dgm:prSet>
      <dgm:spPr/>
    </dgm:pt>
    <dgm:pt modelId="{C0D47848-E8DC-4B08-B712-46B978947CD9}" type="pres">
      <dgm:prSet presAssocID="{1DB63772-7A0D-45B1-B597-5A85E1309C2A}" presName="sibTrans" presStyleCnt="0"/>
      <dgm:spPr/>
    </dgm:pt>
    <dgm:pt modelId="{59BA6D58-2370-4EEF-B784-25F201BC004F}" type="pres">
      <dgm:prSet presAssocID="{9C323A14-BA2D-4DD4-8B93-07E9BBDDE964}" presName="compNode" presStyleCnt="0"/>
      <dgm:spPr/>
    </dgm:pt>
    <dgm:pt modelId="{E4464EDC-C31E-4C76-A396-CDAAE5474ACD}" type="pres">
      <dgm:prSet presAssocID="{9C323A14-BA2D-4DD4-8B93-07E9BBDDE964}" presName="bgRect" presStyleLbl="bgShp" presStyleIdx="1" presStyleCnt="3"/>
      <dgm:spPr/>
    </dgm:pt>
    <dgm:pt modelId="{8460FF0D-91C8-4D38-9D2D-C4C212CA0157}" type="pres">
      <dgm:prSet presAssocID="{9C323A14-BA2D-4DD4-8B93-07E9BBDDE9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65B9FD51-1B7D-4DB9-A53A-84A8F6ACCBA0}" type="pres">
      <dgm:prSet presAssocID="{9C323A14-BA2D-4DD4-8B93-07E9BBDDE964}" presName="spaceRect" presStyleCnt="0"/>
      <dgm:spPr/>
    </dgm:pt>
    <dgm:pt modelId="{4B1DBEB4-708F-44A7-AC91-74F88996F8FE}" type="pres">
      <dgm:prSet presAssocID="{9C323A14-BA2D-4DD4-8B93-07E9BBDDE964}" presName="parTx" presStyleLbl="revTx" presStyleIdx="1" presStyleCnt="3">
        <dgm:presLayoutVars>
          <dgm:chMax val="0"/>
          <dgm:chPref val="0"/>
        </dgm:presLayoutVars>
      </dgm:prSet>
      <dgm:spPr/>
    </dgm:pt>
    <dgm:pt modelId="{63C68C8A-20AC-4531-ADB8-5E46D451320C}" type="pres">
      <dgm:prSet presAssocID="{8F7AF8B4-7798-4A9A-9E0B-60DF971C5228}" presName="sibTrans" presStyleCnt="0"/>
      <dgm:spPr/>
    </dgm:pt>
    <dgm:pt modelId="{6D72F4A7-7ADF-4CBE-B6FF-78A4D42C6F23}" type="pres">
      <dgm:prSet presAssocID="{6CDBDB8F-81B6-48AE-B32A-EFB6738C1917}" presName="compNode" presStyleCnt="0"/>
      <dgm:spPr/>
    </dgm:pt>
    <dgm:pt modelId="{980E2EBC-DE2E-42DE-87BE-19591A547D9D}" type="pres">
      <dgm:prSet presAssocID="{6CDBDB8F-81B6-48AE-B32A-EFB6738C1917}" presName="bgRect" presStyleLbl="bgShp" presStyleIdx="2" presStyleCnt="3"/>
      <dgm:spPr/>
    </dgm:pt>
    <dgm:pt modelId="{6DDA2D8F-2F18-4F07-B89D-69FB23B27CF2}" type="pres">
      <dgm:prSet presAssocID="{6CDBDB8F-81B6-48AE-B32A-EFB6738C19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CCEBD0D1-437E-4E6D-B182-46B10D6D9C25}" type="pres">
      <dgm:prSet presAssocID="{6CDBDB8F-81B6-48AE-B32A-EFB6738C1917}" presName="spaceRect" presStyleCnt="0"/>
      <dgm:spPr/>
    </dgm:pt>
    <dgm:pt modelId="{584E340C-797F-4ADB-85ED-6B3501E9B08F}" type="pres">
      <dgm:prSet presAssocID="{6CDBDB8F-81B6-48AE-B32A-EFB6738C191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B784E24-94EA-4805-AF83-307B45837430}" type="presOf" srcId="{9C323A14-BA2D-4DD4-8B93-07E9BBDDE964}" destId="{4B1DBEB4-708F-44A7-AC91-74F88996F8FE}" srcOrd="0" destOrd="0" presId="urn:microsoft.com/office/officeart/2018/2/layout/IconVerticalSolidList"/>
    <dgm:cxn modelId="{BAAB1D71-6B42-4730-B4D5-B997A43BF5B3}" type="presOf" srcId="{6CDBDB8F-81B6-48AE-B32A-EFB6738C1917}" destId="{584E340C-797F-4ADB-85ED-6B3501E9B08F}" srcOrd="0" destOrd="0" presId="urn:microsoft.com/office/officeart/2018/2/layout/IconVerticalSolidList"/>
    <dgm:cxn modelId="{2CFDF95A-569C-488A-BE2C-1D6698DF8E70}" type="presOf" srcId="{40F8F06C-0F37-4356-AC30-3C7C098CCB98}" destId="{58D735D8-6E2A-4DE1-A447-3956E1951C0C}" srcOrd="0" destOrd="0" presId="urn:microsoft.com/office/officeart/2018/2/layout/IconVerticalSolidList"/>
    <dgm:cxn modelId="{920B0A85-2F0D-4550-8CF7-456EC559AC16}" srcId="{40F8F06C-0F37-4356-AC30-3C7C098CCB98}" destId="{D5A9A177-5216-492B-8D06-543275DE11A0}" srcOrd="0" destOrd="0" parTransId="{21E37D7A-7814-43A3-8E44-6ED9D4478A62}" sibTransId="{1DB63772-7A0D-45B1-B597-5A85E1309C2A}"/>
    <dgm:cxn modelId="{5E3C7AAD-B5A5-499E-B691-77C645D72B8E}" srcId="{40F8F06C-0F37-4356-AC30-3C7C098CCB98}" destId="{6CDBDB8F-81B6-48AE-B32A-EFB6738C1917}" srcOrd="2" destOrd="0" parTransId="{518BFC99-D445-42BF-B432-15CA7B830B1F}" sibTransId="{8DD6B2F7-6006-4174-A6F6-822ABB39A6D0}"/>
    <dgm:cxn modelId="{E24772DE-40D0-422B-82AE-5B19C089FF76}" type="presOf" srcId="{D5A9A177-5216-492B-8D06-543275DE11A0}" destId="{E51A54A8-1CE3-461C-BFBA-ECD35347D6CF}" srcOrd="0" destOrd="0" presId="urn:microsoft.com/office/officeart/2018/2/layout/IconVerticalSolidList"/>
    <dgm:cxn modelId="{7ADA2DFB-BE9E-4F94-A124-48DFB16869B5}" srcId="{40F8F06C-0F37-4356-AC30-3C7C098CCB98}" destId="{9C323A14-BA2D-4DD4-8B93-07E9BBDDE964}" srcOrd="1" destOrd="0" parTransId="{3105D25C-0784-405B-B9C2-295BC9717EC8}" sibTransId="{8F7AF8B4-7798-4A9A-9E0B-60DF971C5228}"/>
    <dgm:cxn modelId="{7F14AD05-C133-4526-BD0C-443ABBA535DC}" type="presParOf" srcId="{58D735D8-6E2A-4DE1-A447-3956E1951C0C}" destId="{DC831D7C-352B-48E8-990A-F04588BCB603}" srcOrd="0" destOrd="0" presId="urn:microsoft.com/office/officeart/2018/2/layout/IconVerticalSolidList"/>
    <dgm:cxn modelId="{7561716D-6D43-476F-B8A5-0C4C2E329627}" type="presParOf" srcId="{DC831D7C-352B-48E8-990A-F04588BCB603}" destId="{AC4763A2-B4C2-4E2F-B4AE-556F96C65CC6}" srcOrd="0" destOrd="0" presId="urn:microsoft.com/office/officeart/2018/2/layout/IconVerticalSolidList"/>
    <dgm:cxn modelId="{699C420A-189B-426B-97F2-027DCD0A07AD}" type="presParOf" srcId="{DC831D7C-352B-48E8-990A-F04588BCB603}" destId="{6C2EE628-7513-4DC9-9CFE-3CBDFA0E9F93}" srcOrd="1" destOrd="0" presId="urn:microsoft.com/office/officeart/2018/2/layout/IconVerticalSolidList"/>
    <dgm:cxn modelId="{68056843-48CA-4787-B868-6A12A602BA77}" type="presParOf" srcId="{DC831D7C-352B-48E8-990A-F04588BCB603}" destId="{DF3B8470-0214-46F2-A9A0-CAEC71D684AC}" srcOrd="2" destOrd="0" presId="urn:microsoft.com/office/officeart/2018/2/layout/IconVerticalSolidList"/>
    <dgm:cxn modelId="{04899011-A882-4F30-8529-A6C9D2231416}" type="presParOf" srcId="{DC831D7C-352B-48E8-990A-F04588BCB603}" destId="{E51A54A8-1CE3-461C-BFBA-ECD35347D6CF}" srcOrd="3" destOrd="0" presId="urn:microsoft.com/office/officeart/2018/2/layout/IconVerticalSolidList"/>
    <dgm:cxn modelId="{3FCF78DD-CD78-4415-BD35-F19EC5B1CBB6}" type="presParOf" srcId="{58D735D8-6E2A-4DE1-A447-3956E1951C0C}" destId="{C0D47848-E8DC-4B08-B712-46B978947CD9}" srcOrd="1" destOrd="0" presId="urn:microsoft.com/office/officeart/2018/2/layout/IconVerticalSolidList"/>
    <dgm:cxn modelId="{F64D89F1-EF43-4E04-A681-B5DF56156691}" type="presParOf" srcId="{58D735D8-6E2A-4DE1-A447-3956E1951C0C}" destId="{59BA6D58-2370-4EEF-B784-25F201BC004F}" srcOrd="2" destOrd="0" presId="urn:microsoft.com/office/officeart/2018/2/layout/IconVerticalSolidList"/>
    <dgm:cxn modelId="{A1A92AB0-A2A2-4BA5-8BA7-ADE90644E654}" type="presParOf" srcId="{59BA6D58-2370-4EEF-B784-25F201BC004F}" destId="{E4464EDC-C31E-4C76-A396-CDAAE5474ACD}" srcOrd="0" destOrd="0" presId="urn:microsoft.com/office/officeart/2018/2/layout/IconVerticalSolidList"/>
    <dgm:cxn modelId="{E3666E04-737E-4252-A647-BB6C22AC825B}" type="presParOf" srcId="{59BA6D58-2370-4EEF-B784-25F201BC004F}" destId="{8460FF0D-91C8-4D38-9D2D-C4C212CA0157}" srcOrd="1" destOrd="0" presId="urn:microsoft.com/office/officeart/2018/2/layout/IconVerticalSolidList"/>
    <dgm:cxn modelId="{D0E1E773-E456-477C-B485-EAE92A17F5A3}" type="presParOf" srcId="{59BA6D58-2370-4EEF-B784-25F201BC004F}" destId="{65B9FD51-1B7D-4DB9-A53A-84A8F6ACCBA0}" srcOrd="2" destOrd="0" presId="urn:microsoft.com/office/officeart/2018/2/layout/IconVerticalSolidList"/>
    <dgm:cxn modelId="{D6074F49-8F0C-4EAB-8F38-F8948059ABBF}" type="presParOf" srcId="{59BA6D58-2370-4EEF-B784-25F201BC004F}" destId="{4B1DBEB4-708F-44A7-AC91-74F88996F8FE}" srcOrd="3" destOrd="0" presId="urn:microsoft.com/office/officeart/2018/2/layout/IconVerticalSolidList"/>
    <dgm:cxn modelId="{206BC90E-17F9-476E-B37C-151F436B42D2}" type="presParOf" srcId="{58D735D8-6E2A-4DE1-A447-3956E1951C0C}" destId="{63C68C8A-20AC-4531-ADB8-5E46D451320C}" srcOrd="3" destOrd="0" presId="urn:microsoft.com/office/officeart/2018/2/layout/IconVerticalSolidList"/>
    <dgm:cxn modelId="{3A7510C9-85D3-4759-88C8-D4243B57736F}" type="presParOf" srcId="{58D735D8-6E2A-4DE1-A447-3956E1951C0C}" destId="{6D72F4A7-7ADF-4CBE-B6FF-78A4D42C6F23}" srcOrd="4" destOrd="0" presId="urn:microsoft.com/office/officeart/2018/2/layout/IconVerticalSolidList"/>
    <dgm:cxn modelId="{82A22309-5E54-4014-A674-05D6EB252F4A}" type="presParOf" srcId="{6D72F4A7-7ADF-4CBE-B6FF-78A4D42C6F23}" destId="{980E2EBC-DE2E-42DE-87BE-19591A547D9D}" srcOrd="0" destOrd="0" presId="urn:microsoft.com/office/officeart/2018/2/layout/IconVerticalSolidList"/>
    <dgm:cxn modelId="{7A6E16CD-5C64-4297-9359-4B1F1FD51F5E}" type="presParOf" srcId="{6D72F4A7-7ADF-4CBE-B6FF-78A4D42C6F23}" destId="{6DDA2D8F-2F18-4F07-B89D-69FB23B27CF2}" srcOrd="1" destOrd="0" presId="urn:microsoft.com/office/officeart/2018/2/layout/IconVerticalSolidList"/>
    <dgm:cxn modelId="{3BBF56BA-BC89-4E89-A30D-B9C51C0B418F}" type="presParOf" srcId="{6D72F4A7-7ADF-4CBE-B6FF-78A4D42C6F23}" destId="{CCEBD0D1-437E-4E6D-B182-46B10D6D9C25}" srcOrd="2" destOrd="0" presId="urn:microsoft.com/office/officeart/2018/2/layout/IconVerticalSolidList"/>
    <dgm:cxn modelId="{1989E8A0-9DD0-492F-82B9-598A90D3653D}" type="presParOf" srcId="{6D72F4A7-7ADF-4CBE-B6FF-78A4D42C6F23}" destId="{584E340C-797F-4ADB-85ED-6B3501E9B0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B5DD4F-336A-47D9-9900-62CD5E55CBA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26144E-A535-4BEC-8011-535BA579569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latin typeface="Aptos Narrow" panose="020B0004020202020204" pitchFamily="34" charset="0"/>
            </a:rPr>
            <a:t>State Space:</a:t>
          </a:r>
        </a:p>
      </dgm:t>
    </dgm:pt>
    <dgm:pt modelId="{D4EFFB62-405B-46BB-9D12-7EABFA825758}" type="parTrans" cxnId="{F66D240B-C46A-45C6-9426-71DB9E129DEC}">
      <dgm:prSet/>
      <dgm:spPr/>
      <dgm:t>
        <a:bodyPr/>
        <a:lstStyle/>
        <a:p>
          <a:endParaRPr lang="it-IT"/>
        </a:p>
      </dgm:t>
    </dgm:pt>
    <dgm:pt modelId="{2A853DBE-FA52-4838-9018-380250FD0AB9}" type="sibTrans" cxnId="{F66D240B-C46A-45C6-9426-71DB9E129DEC}">
      <dgm:prSet/>
      <dgm:spPr/>
      <dgm:t>
        <a:bodyPr/>
        <a:lstStyle/>
        <a:p>
          <a:endParaRPr lang="it-IT"/>
        </a:p>
      </dgm:t>
    </dgm:pt>
    <dgm:pt modelId="{A3752724-46CA-4E35-9FED-4171EC02065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latin typeface="Aptos Narrow" panose="020B0004020202020204" pitchFamily="34" charset="0"/>
            </a:rPr>
            <a:t>Action Space:</a:t>
          </a:r>
        </a:p>
      </dgm:t>
    </dgm:pt>
    <dgm:pt modelId="{4F444256-7989-423C-9F4B-3F194BF413CC}" type="parTrans" cxnId="{8246A688-3DC0-45D2-AE04-3CA4AB918120}">
      <dgm:prSet/>
      <dgm:spPr/>
      <dgm:t>
        <a:bodyPr/>
        <a:lstStyle/>
        <a:p>
          <a:endParaRPr lang="it-IT"/>
        </a:p>
      </dgm:t>
    </dgm:pt>
    <dgm:pt modelId="{EEBF4FFF-BBD6-4044-8DEB-CA11D7F03929}" type="sibTrans" cxnId="{8246A688-3DC0-45D2-AE04-3CA4AB918120}">
      <dgm:prSet/>
      <dgm:spPr/>
      <dgm:t>
        <a:bodyPr/>
        <a:lstStyle/>
        <a:p>
          <a:endParaRPr lang="it-IT"/>
        </a:p>
      </dgm:t>
    </dgm:pt>
    <dgm:pt modelId="{EAE2C30F-31B1-4FF5-80F3-F960CB28F154}" type="pres">
      <dgm:prSet presAssocID="{C5B5DD4F-336A-47D9-9900-62CD5E55CBA1}" presName="root" presStyleCnt="0">
        <dgm:presLayoutVars>
          <dgm:dir/>
          <dgm:resizeHandles val="exact"/>
        </dgm:presLayoutVars>
      </dgm:prSet>
      <dgm:spPr/>
    </dgm:pt>
    <dgm:pt modelId="{707FE206-9ADA-4D06-BD8A-00A9E169177D}" type="pres">
      <dgm:prSet presAssocID="{2D26144E-A535-4BEC-8011-535BA579569B}" presName="compNode" presStyleCnt="0"/>
      <dgm:spPr/>
    </dgm:pt>
    <dgm:pt modelId="{D4FDE223-2345-42D5-A2DA-9C21852446A6}" type="pres">
      <dgm:prSet presAssocID="{2D26144E-A535-4BEC-8011-535BA579569B}" presName="bgRect" presStyleLbl="bgShp" presStyleIdx="0" presStyleCnt="2"/>
      <dgm:spPr/>
    </dgm:pt>
    <dgm:pt modelId="{B563344F-790F-4257-85FF-942AA1D65990}" type="pres">
      <dgm:prSet presAssocID="{2D26144E-A535-4BEC-8011-535BA579569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mobile con riempimento a tinta unita"/>
        </a:ext>
      </dgm:extLst>
    </dgm:pt>
    <dgm:pt modelId="{6CDE08DA-8357-42EB-90F1-5167F0ABB526}" type="pres">
      <dgm:prSet presAssocID="{2D26144E-A535-4BEC-8011-535BA579569B}" presName="spaceRect" presStyleCnt="0"/>
      <dgm:spPr/>
    </dgm:pt>
    <dgm:pt modelId="{153A55DE-5E55-4D1A-8F6D-2F2F1A7C159B}" type="pres">
      <dgm:prSet presAssocID="{2D26144E-A535-4BEC-8011-535BA579569B}" presName="parTx" presStyleLbl="revTx" presStyleIdx="0" presStyleCnt="2">
        <dgm:presLayoutVars>
          <dgm:chMax val="0"/>
          <dgm:chPref val="0"/>
        </dgm:presLayoutVars>
      </dgm:prSet>
      <dgm:spPr/>
    </dgm:pt>
    <dgm:pt modelId="{6D6BC015-67CF-41DA-9FEB-142F1C4D0F12}" type="pres">
      <dgm:prSet presAssocID="{2A853DBE-FA52-4838-9018-380250FD0AB9}" presName="sibTrans" presStyleCnt="0"/>
      <dgm:spPr/>
    </dgm:pt>
    <dgm:pt modelId="{D330BADA-C31F-449A-8E47-09522B330D46}" type="pres">
      <dgm:prSet presAssocID="{A3752724-46CA-4E35-9FED-4171EC020651}" presName="compNode" presStyleCnt="0"/>
      <dgm:spPr/>
    </dgm:pt>
    <dgm:pt modelId="{02697E4A-E224-4AA1-8967-2867C159651E}" type="pres">
      <dgm:prSet presAssocID="{A3752724-46CA-4E35-9FED-4171EC020651}" presName="bgRect" presStyleLbl="bgShp" presStyleIdx="1" presStyleCnt="2"/>
      <dgm:spPr/>
    </dgm:pt>
    <dgm:pt modelId="{43B047B4-F3E0-4461-BC30-F17C60F6192F}" type="pres">
      <dgm:prSet presAssocID="{A3752724-46CA-4E35-9FED-4171EC02065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ecce a zig zag con riempimento a tinta unita"/>
        </a:ext>
      </dgm:extLst>
    </dgm:pt>
    <dgm:pt modelId="{1D31DEAF-851D-4D5C-B44C-7FD4036DE33D}" type="pres">
      <dgm:prSet presAssocID="{A3752724-46CA-4E35-9FED-4171EC020651}" presName="spaceRect" presStyleCnt="0"/>
      <dgm:spPr/>
    </dgm:pt>
    <dgm:pt modelId="{493E3163-1F9C-45BF-8199-02B81FBEFDC5}" type="pres">
      <dgm:prSet presAssocID="{A3752724-46CA-4E35-9FED-4171EC02065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66D240B-C46A-45C6-9426-71DB9E129DEC}" srcId="{C5B5DD4F-336A-47D9-9900-62CD5E55CBA1}" destId="{2D26144E-A535-4BEC-8011-535BA579569B}" srcOrd="0" destOrd="0" parTransId="{D4EFFB62-405B-46BB-9D12-7EABFA825758}" sibTransId="{2A853DBE-FA52-4838-9018-380250FD0AB9}"/>
    <dgm:cxn modelId="{24F4A93F-9F00-4ED9-9869-7724EC8F7796}" type="presOf" srcId="{C5B5DD4F-336A-47D9-9900-62CD5E55CBA1}" destId="{EAE2C30F-31B1-4FF5-80F3-F960CB28F154}" srcOrd="0" destOrd="0" presId="urn:microsoft.com/office/officeart/2018/2/layout/IconVerticalSolidList"/>
    <dgm:cxn modelId="{8246A688-3DC0-45D2-AE04-3CA4AB918120}" srcId="{C5B5DD4F-336A-47D9-9900-62CD5E55CBA1}" destId="{A3752724-46CA-4E35-9FED-4171EC020651}" srcOrd="1" destOrd="0" parTransId="{4F444256-7989-423C-9F4B-3F194BF413CC}" sibTransId="{EEBF4FFF-BBD6-4044-8DEB-CA11D7F03929}"/>
    <dgm:cxn modelId="{5C26468D-7E51-4313-B803-CF5EC47D8530}" type="presOf" srcId="{2D26144E-A535-4BEC-8011-535BA579569B}" destId="{153A55DE-5E55-4D1A-8F6D-2F2F1A7C159B}" srcOrd="0" destOrd="0" presId="urn:microsoft.com/office/officeart/2018/2/layout/IconVerticalSolidList"/>
    <dgm:cxn modelId="{D7242E9F-95C1-4803-BF0F-4C48C640B6C0}" type="presOf" srcId="{A3752724-46CA-4E35-9FED-4171EC020651}" destId="{493E3163-1F9C-45BF-8199-02B81FBEFDC5}" srcOrd="0" destOrd="0" presId="urn:microsoft.com/office/officeart/2018/2/layout/IconVerticalSolidList"/>
    <dgm:cxn modelId="{0E49D95C-29D5-4F26-A7D6-4D3723A40BB2}" type="presParOf" srcId="{EAE2C30F-31B1-4FF5-80F3-F960CB28F154}" destId="{707FE206-9ADA-4D06-BD8A-00A9E169177D}" srcOrd="0" destOrd="0" presId="urn:microsoft.com/office/officeart/2018/2/layout/IconVerticalSolidList"/>
    <dgm:cxn modelId="{0783F8D7-DF85-49A2-B666-B542800B4C61}" type="presParOf" srcId="{707FE206-9ADA-4D06-BD8A-00A9E169177D}" destId="{D4FDE223-2345-42D5-A2DA-9C21852446A6}" srcOrd="0" destOrd="0" presId="urn:microsoft.com/office/officeart/2018/2/layout/IconVerticalSolidList"/>
    <dgm:cxn modelId="{DD507B5A-D6A8-4FA7-A2A2-0140B6F5A565}" type="presParOf" srcId="{707FE206-9ADA-4D06-BD8A-00A9E169177D}" destId="{B563344F-790F-4257-85FF-942AA1D65990}" srcOrd="1" destOrd="0" presId="urn:microsoft.com/office/officeart/2018/2/layout/IconVerticalSolidList"/>
    <dgm:cxn modelId="{95008430-83A3-4BBA-9EC4-A8A3B8120E4E}" type="presParOf" srcId="{707FE206-9ADA-4D06-BD8A-00A9E169177D}" destId="{6CDE08DA-8357-42EB-90F1-5167F0ABB526}" srcOrd="2" destOrd="0" presId="urn:microsoft.com/office/officeart/2018/2/layout/IconVerticalSolidList"/>
    <dgm:cxn modelId="{ECC4671B-4F4B-4B8B-9338-0585E0AFE84D}" type="presParOf" srcId="{707FE206-9ADA-4D06-BD8A-00A9E169177D}" destId="{153A55DE-5E55-4D1A-8F6D-2F2F1A7C159B}" srcOrd="3" destOrd="0" presId="urn:microsoft.com/office/officeart/2018/2/layout/IconVerticalSolidList"/>
    <dgm:cxn modelId="{7D056154-51F8-4F40-85D2-29E638537A82}" type="presParOf" srcId="{EAE2C30F-31B1-4FF5-80F3-F960CB28F154}" destId="{6D6BC015-67CF-41DA-9FEB-142F1C4D0F12}" srcOrd="1" destOrd="0" presId="urn:microsoft.com/office/officeart/2018/2/layout/IconVerticalSolidList"/>
    <dgm:cxn modelId="{0C333C7B-C174-49F8-810C-79A2A01DE45B}" type="presParOf" srcId="{EAE2C30F-31B1-4FF5-80F3-F960CB28F154}" destId="{D330BADA-C31F-449A-8E47-09522B330D46}" srcOrd="2" destOrd="0" presId="urn:microsoft.com/office/officeart/2018/2/layout/IconVerticalSolidList"/>
    <dgm:cxn modelId="{751B9918-42A6-4ED4-969B-956886DFA085}" type="presParOf" srcId="{D330BADA-C31F-449A-8E47-09522B330D46}" destId="{02697E4A-E224-4AA1-8967-2867C159651E}" srcOrd="0" destOrd="0" presId="urn:microsoft.com/office/officeart/2018/2/layout/IconVerticalSolidList"/>
    <dgm:cxn modelId="{475367AE-261A-4F8A-AE6A-0CE861BEB766}" type="presParOf" srcId="{D330BADA-C31F-449A-8E47-09522B330D46}" destId="{43B047B4-F3E0-4461-BC30-F17C60F6192F}" srcOrd="1" destOrd="0" presId="urn:microsoft.com/office/officeart/2018/2/layout/IconVerticalSolidList"/>
    <dgm:cxn modelId="{045B57DB-2E3F-48CC-ABBD-6CEFE3D64052}" type="presParOf" srcId="{D330BADA-C31F-449A-8E47-09522B330D46}" destId="{1D31DEAF-851D-4D5C-B44C-7FD4036DE33D}" srcOrd="2" destOrd="0" presId="urn:microsoft.com/office/officeart/2018/2/layout/IconVerticalSolidList"/>
    <dgm:cxn modelId="{8142240C-9BD5-4049-9245-1DF6B5F63414}" type="presParOf" srcId="{D330BADA-C31F-449A-8E47-09522B330D46}" destId="{493E3163-1F9C-45BF-8199-02B81FBEFD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763A2-B4C2-4E2F-B4AE-556F96C65CC6}">
      <dsp:nvSpPr>
        <dsp:cNvPr id="0" name=""/>
        <dsp:cNvSpPr/>
      </dsp:nvSpPr>
      <dsp:spPr>
        <a:xfrm>
          <a:off x="0" y="475"/>
          <a:ext cx="10363200" cy="11137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EE628-7513-4DC9-9CFE-3CBDFA0E9F93}">
      <dsp:nvSpPr>
        <dsp:cNvPr id="0" name=""/>
        <dsp:cNvSpPr/>
      </dsp:nvSpPr>
      <dsp:spPr>
        <a:xfrm>
          <a:off x="336903" y="251065"/>
          <a:ext cx="612552" cy="6125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A54A8-1CE3-461C-BFBA-ECD35347D6CF}">
      <dsp:nvSpPr>
        <dsp:cNvPr id="0" name=""/>
        <dsp:cNvSpPr/>
      </dsp:nvSpPr>
      <dsp:spPr>
        <a:xfrm>
          <a:off x="1286359" y="475"/>
          <a:ext cx="9076840" cy="1113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70" tIns="117870" rIns="117870" bIns="117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>
              <a:latin typeface="Aptos Narrow" panose="020B0004020202020204" pitchFamily="34" charset="0"/>
            </a:rPr>
            <a:t>TASK: </a:t>
          </a:r>
          <a:r>
            <a:rPr lang="en-US" sz="2200" b="0" kern="1200" dirty="0">
              <a:latin typeface="Aptos Narrow" panose="020B0004020202020204" pitchFamily="34" charset="0"/>
            </a:rPr>
            <a:t>drive a car to the top of a steep mountain road. </a:t>
          </a:r>
          <a:endParaRPr lang="it-IT" sz="2200" b="0" kern="1200" dirty="0">
            <a:latin typeface="Aptos Narrow" panose="020B0004020202020204" pitchFamily="34" charset="0"/>
          </a:endParaRPr>
        </a:p>
      </dsp:txBody>
      <dsp:txXfrm>
        <a:off x="1286359" y="475"/>
        <a:ext cx="9076840" cy="1113731"/>
      </dsp:txXfrm>
    </dsp:sp>
    <dsp:sp modelId="{E4464EDC-C31E-4C76-A396-CDAAE5474ACD}">
      <dsp:nvSpPr>
        <dsp:cNvPr id="0" name=""/>
        <dsp:cNvSpPr/>
      </dsp:nvSpPr>
      <dsp:spPr>
        <a:xfrm>
          <a:off x="0" y="1392639"/>
          <a:ext cx="10363200" cy="11137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0FF0D-91C8-4D38-9D2D-C4C212CA0157}">
      <dsp:nvSpPr>
        <dsp:cNvPr id="0" name=""/>
        <dsp:cNvSpPr/>
      </dsp:nvSpPr>
      <dsp:spPr>
        <a:xfrm>
          <a:off x="336903" y="1643229"/>
          <a:ext cx="612552" cy="6125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DBEB4-708F-44A7-AC91-74F88996F8FE}">
      <dsp:nvSpPr>
        <dsp:cNvPr id="0" name=""/>
        <dsp:cNvSpPr/>
      </dsp:nvSpPr>
      <dsp:spPr>
        <a:xfrm>
          <a:off x="1286359" y="1392639"/>
          <a:ext cx="9076840" cy="1113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70" tIns="117870" rIns="117870" bIns="117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>
              <a:latin typeface="Aptos Narrow" panose="020B0004020202020204" pitchFamily="34" charset="0"/>
            </a:rPr>
            <a:t>PROBLEM</a:t>
          </a:r>
          <a:r>
            <a:rPr lang="it-IT" sz="2200" kern="1200" dirty="0">
              <a:latin typeface="Aptos Narrow" panose="020B0004020202020204" pitchFamily="34" charset="0"/>
            </a:rPr>
            <a:t>: </a:t>
          </a:r>
          <a:r>
            <a:rPr lang="en-US" sz="2200" kern="1200" dirty="0">
              <a:latin typeface="Aptos Narrow" panose="020B0004020202020204" pitchFamily="34" charset="0"/>
            </a:rPr>
            <a:t>the gravitational force is greater than the maximum force the engine can apply, so the agent cannot achieve the goal by accelerating forward alone.</a:t>
          </a:r>
          <a:endParaRPr lang="it-IT" sz="2200" kern="1200" dirty="0">
            <a:latin typeface="Aptos Narrow" panose="020B0004020202020204" pitchFamily="34" charset="0"/>
          </a:endParaRPr>
        </a:p>
      </dsp:txBody>
      <dsp:txXfrm>
        <a:off x="1286359" y="1392639"/>
        <a:ext cx="9076840" cy="1113731"/>
      </dsp:txXfrm>
    </dsp:sp>
    <dsp:sp modelId="{980E2EBC-DE2E-42DE-87BE-19591A547D9D}">
      <dsp:nvSpPr>
        <dsp:cNvPr id="0" name=""/>
        <dsp:cNvSpPr/>
      </dsp:nvSpPr>
      <dsp:spPr>
        <a:xfrm>
          <a:off x="0" y="2784803"/>
          <a:ext cx="10363200" cy="11137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DA2D8F-2F18-4F07-B89D-69FB23B27CF2}">
      <dsp:nvSpPr>
        <dsp:cNvPr id="0" name=""/>
        <dsp:cNvSpPr/>
      </dsp:nvSpPr>
      <dsp:spPr>
        <a:xfrm>
          <a:off x="336903" y="3035393"/>
          <a:ext cx="612552" cy="6125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E340C-797F-4ADB-85ED-6B3501E9B08F}">
      <dsp:nvSpPr>
        <dsp:cNvPr id="0" name=""/>
        <dsp:cNvSpPr/>
      </dsp:nvSpPr>
      <dsp:spPr>
        <a:xfrm>
          <a:off x="1286359" y="2784803"/>
          <a:ext cx="9076840" cy="1113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70" tIns="117870" rIns="117870" bIns="117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>
              <a:latin typeface="Aptos Narrow" panose="020B0004020202020204" pitchFamily="34" charset="0"/>
            </a:rPr>
            <a:t>SOLUTION</a:t>
          </a:r>
          <a:r>
            <a:rPr lang="it-IT" sz="2200" kern="1200" dirty="0">
              <a:latin typeface="Aptos Narrow" panose="020B0004020202020204" pitchFamily="34" charset="0"/>
            </a:rPr>
            <a:t>: </a:t>
          </a:r>
          <a:r>
            <a:rPr lang="en-US" sz="2200" kern="1200" dirty="0">
              <a:latin typeface="Aptos Narrow" panose="020B0004020202020204" pitchFamily="34" charset="0"/>
            </a:rPr>
            <a:t>the agent will have to learn how to climb the opposite slope, to accumulate enough energy in order to reach the goal.</a:t>
          </a:r>
          <a:endParaRPr lang="it-IT" sz="2200" kern="1200" dirty="0">
            <a:latin typeface="Aptos Narrow" panose="020B0004020202020204" pitchFamily="34" charset="0"/>
          </a:endParaRPr>
        </a:p>
      </dsp:txBody>
      <dsp:txXfrm>
        <a:off x="1286359" y="2784803"/>
        <a:ext cx="9076840" cy="1113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FDE223-2345-42D5-A2DA-9C21852446A6}">
      <dsp:nvSpPr>
        <dsp:cNvPr id="0" name=""/>
        <dsp:cNvSpPr/>
      </dsp:nvSpPr>
      <dsp:spPr>
        <a:xfrm>
          <a:off x="0" y="598817"/>
          <a:ext cx="11148633" cy="11055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3344F-790F-4257-85FF-942AA1D65990}">
      <dsp:nvSpPr>
        <dsp:cNvPr id="0" name=""/>
        <dsp:cNvSpPr/>
      </dsp:nvSpPr>
      <dsp:spPr>
        <a:xfrm>
          <a:off x="334416" y="847556"/>
          <a:ext cx="608029" cy="6080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A55DE-5E55-4D1A-8F6D-2F2F1A7C159B}">
      <dsp:nvSpPr>
        <dsp:cNvPr id="0" name=""/>
        <dsp:cNvSpPr/>
      </dsp:nvSpPr>
      <dsp:spPr>
        <a:xfrm>
          <a:off x="1276862" y="598817"/>
          <a:ext cx="9871770" cy="11055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000" tIns="117000" rIns="117000" bIns="11700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latin typeface="Aptos Narrow" panose="020B0004020202020204" pitchFamily="34" charset="0"/>
            </a:rPr>
            <a:t>State Space:</a:t>
          </a:r>
        </a:p>
      </dsp:txBody>
      <dsp:txXfrm>
        <a:off x="1276862" y="598817"/>
        <a:ext cx="9871770" cy="1105508"/>
      </dsp:txXfrm>
    </dsp:sp>
    <dsp:sp modelId="{02697E4A-E224-4AA1-8967-2867C159651E}">
      <dsp:nvSpPr>
        <dsp:cNvPr id="0" name=""/>
        <dsp:cNvSpPr/>
      </dsp:nvSpPr>
      <dsp:spPr>
        <a:xfrm>
          <a:off x="0" y="1980702"/>
          <a:ext cx="11148633" cy="11055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047B4-F3E0-4461-BC30-F17C60F6192F}">
      <dsp:nvSpPr>
        <dsp:cNvPr id="0" name=""/>
        <dsp:cNvSpPr/>
      </dsp:nvSpPr>
      <dsp:spPr>
        <a:xfrm>
          <a:off x="334416" y="2229441"/>
          <a:ext cx="608029" cy="6080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E3163-1F9C-45BF-8199-02B81FBEFDC5}">
      <dsp:nvSpPr>
        <dsp:cNvPr id="0" name=""/>
        <dsp:cNvSpPr/>
      </dsp:nvSpPr>
      <dsp:spPr>
        <a:xfrm>
          <a:off x="1276862" y="1980702"/>
          <a:ext cx="9871770" cy="11055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000" tIns="117000" rIns="117000" bIns="11700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latin typeface="Aptos Narrow" panose="020B0004020202020204" pitchFamily="34" charset="0"/>
            </a:rPr>
            <a:t>Action Space:</a:t>
          </a:r>
        </a:p>
      </dsp:txBody>
      <dsp:txXfrm>
        <a:off x="1276862" y="1980702"/>
        <a:ext cx="9871770" cy="11055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8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6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14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2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2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90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0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5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39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37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magine che contiene design, linea, arte&#10;&#10;Il contenuto generato dall'IA potrebbe non essere corretto.">
            <a:extLst>
              <a:ext uri="{FF2B5EF4-FFF2-40B4-BE49-F238E27FC236}">
                <a16:creationId xmlns:a16="http://schemas.microsoft.com/office/drawing/2014/main" id="{15CDA929-50A5-24CE-82CE-DE0BFC16E8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427" b="7720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C433743-F375-7A7D-98D2-54DF0A372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623582"/>
            <a:ext cx="8792679" cy="92333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it-IT" sz="5600" dirty="0">
                <a:solidFill>
                  <a:srgbClr val="FFFFFF"/>
                </a:solidFill>
                <a:latin typeface="Aptos Narrow" panose="020B0004020202020204" pitchFamily="34" charset="0"/>
              </a:rPr>
              <a:t>MOUNTAIN CAR PROBLEM</a:t>
            </a:r>
            <a:br>
              <a:rPr lang="it-IT" sz="5600" dirty="0">
                <a:solidFill>
                  <a:srgbClr val="FFFFFF"/>
                </a:solidFill>
              </a:rPr>
            </a:br>
            <a:br>
              <a:rPr lang="it-IT" sz="5600" dirty="0">
                <a:solidFill>
                  <a:srgbClr val="FFFFFF"/>
                </a:solidFill>
              </a:rPr>
            </a:br>
            <a:endParaRPr lang="it-IT" sz="5600" dirty="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C9F1288-082E-7C93-4699-0E8576356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5251622"/>
            <a:ext cx="4958615" cy="490416"/>
          </a:xfrm>
        </p:spPr>
        <p:txBody>
          <a:bodyPr anchor="t">
            <a:normAutofit/>
          </a:bodyPr>
          <a:lstStyle/>
          <a:p>
            <a:r>
              <a:rPr lang="it-IT" dirty="0">
                <a:solidFill>
                  <a:srgbClr val="FFFFFF"/>
                </a:solidFill>
                <a:latin typeface="Aptos Narrow" panose="020B0004020202020204" pitchFamily="34" charset="0"/>
              </a:rPr>
              <a:t>COURSE: </a:t>
            </a:r>
            <a:r>
              <a:rPr lang="it-IT" b="0" dirty="0">
                <a:solidFill>
                  <a:srgbClr val="FFFFFF"/>
                </a:solidFill>
                <a:latin typeface="Aptos Narrow" panose="020B0004020202020204" pitchFamily="34" charset="0"/>
              </a:rPr>
              <a:t>Learning-</a:t>
            </a:r>
            <a:r>
              <a:rPr lang="it-IT" b="0" dirty="0" err="1">
                <a:solidFill>
                  <a:srgbClr val="FFFFFF"/>
                </a:solidFill>
                <a:latin typeface="Aptos Narrow" panose="020B0004020202020204" pitchFamily="34" charset="0"/>
              </a:rPr>
              <a:t>based</a:t>
            </a:r>
            <a:r>
              <a:rPr lang="it-IT" b="0" dirty="0">
                <a:solidFill>
                  <a:srgbClr val="FFFFFF"/>
                </a:solidFill>
                <a:latin typeface="Aptos Narrow" panose="020B0004020202020204" pitchFamily="34" charset="0"/>
              </a:rPr>
              <a:t> control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590CB37-C473-8CDE-E85A-700C2F97CFEF}"/>
              </a:ext>
            </a:extLst>
          </p:cNvPr>
          <p:cNvSpPr txBox="1"/>
          <p:nvPr/>
        </p:nvSpPr>
        <p:spPr>
          <a:xfrm>
            <a:off x="7295535" y="5142271"/>
            <a:ext cx="4503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FFFFFF"/>
                </a:solidFill>
                <a:latin typeface="Aptos Narrow" panose="020B0004020202020204" pitchFamily="34" charset="0"/>
              </a:rPr>
              <a:t>Professor</a:t>
            </a:r>
            <a:r>
              <a:rPr lang="it-IT" dirty="0">
                <a:solidFill>
                  <a:srgbClr val="FFFFFF"/>
                </a:solidFill>
                <a:latin typeface="Aptos Narrow" panose="020B0004020202020204" pitchFamily="34" charset="0"/>
              </a:rPr>
              <a:t>: Salvato Erica</a:t>
            </a:r>
          </a:p>
          <a:p>
            <a:pPr algn="ctr"/>
            <a:r>
              <a:rPr lang="it-IT" b="1" dirty="0">
                <a:solidFill>
                  <a:srgbClr val="FFFFFF"/>
                </a:solidFill>
                <a:latin typeface="Aptos Narrow" panose="020B0004020202020204" pitchFamily="34" charset="0"/>
              </a:rPr>
              <a:t>Project </a:t>
            </a:r>
            <a:r>
              <a:rPr lang="it-IT" b="1" dirty="0" err="1">
                <a:solidFill>
                  <a:srgbClr val="FFFFFF"/>
                </a:solidFill>
                <a:latin typeface="Aptos Narrow" panose="020B0004020202020204" pitchFamily="34" charset="0"/>
              </a:rPr>
              <a:t>carried</a:t>
            </a:r>
            <a:r>
              <a:rPr lang="it-IT" b="1" dirty="0">
                <a:solidFill>
                  <a:srgbClr val="FFFFFF"/>
                </a:solidFill>
                <a:latin typeface="Aptos Narrow" panose="020B0004020202020204" pitchFamily="34" charset="0"/>
              </a:rPr>
              <a:t> out</a:t>
            </a:r>
            <a:r>
              <a:rPr lang="it-IT" dirty="0">
                <a:solidFill>
                  <a:srgbClr val="FFFFFF"/>
                </a:solidFill>
                <a:latin typeface="Aptos Narrow" panose="020B0004020202020204" pitchFamily="34" charset="0"/>
              </a:rPr>
              <a:t>: Di Santo Alessandro</a:t>
            </a:r>
          </a:p>
          <a:p>
            <a:pPr algn="ctr"/>
            <a:endParaRPr lang="it-IT" dirty="0">
              <a:latin typeface="Aptos Narrow" panose="020B0004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4F944FE-754F-D6F2-4801-9AAFB684BB83}"/>
              </a:ext>
            </a:extLst>
          </p:cNvPr>
          <p:cNvSpPr txBox="1"/>
          <p:nvPr/>
        </p:nvSpPr>
        <p:spPr>
          <a:xfrm>
            <a:off x="1386348" y="462116"/>
            <a:ext cx="8792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dirty="0">
                <a:latin typeface="Aptos Narrow" panose="020B0004020202020204" pitchFamily="34" charset="0"/>
              </a:rPr>
              <a:t>University of Trieste: Department of Engineering and Architecture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883DD1F-1946-7EC1-DA33-6B96882F9940}"/>
              </a:ext>
            </a:extLst>
          </p:cNvPr>
          <p:cNvSpPr txBox="1"/>
          <p:nvPr/>
        </p:nvSpPr>
        <p:spPr>
          <a:xfrm>
            <a:off x="640079" y="2546912"/>
            <a:ext cx="4637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 Narrow" panose="020B0004020202020204" pitchFamily="34" charset="0"/>
              </a:rPr>
              <a:t>Presented</a:t>
            </a:r>
            <a:r>
              <a:rPr lang="it-IT" dirty="0">
                <a:latin typeface="Aptos Narrow" panose="020B0004020202020204" pitchFamily="34" charset="0"/>
              </a:rPr>
              <a:t> in the book </a:t>
            </a:r>
            <a:r>
              <a:rPr lang="it-IT" i="1" dirty="0">
                <a:latin typeface="Aptos Narrow" panose="020B0004020202020204" pitchFamily="34" charset="0"/>
              </a:rPr>
              <a:t>"</a:t>
            </a:r>
            <a:r>
              <a:rPr lang="it-IT" b="1" i="1" dirty="0" err="1">
                <a:latin typeface="Aptos Narrow" panose="020B0004020202020204" pitchFamily="34" charset="0"/>
              </a:rPr>
              <a:t>Reinforcement</a:t>
            </a:r>
            <a:r>
              <a:rPr lang="it-IT" b="1" i="1" dirty="0">
                <a:latin typeface="Aptos Narrow" panose="020B0004020202020204" pitchFamily="34" charset="0"/>
              </a:rPr>
              <a:t> Learning</a:t>
            </a:r>
            <a:r>
              <a:rPr lang="it-IT" i="1" dirty="0">
                <a:latin typeface="Aptos Narrow" panose="020B0004020202020204" pitchFamily="34" charset="0"/>
              </a:rPr>
              <a:t>" by Richard S. Sutton </a:t>
            </a:r>
            <a:r>
              <a:rPr lang="it-IT" dirty="0">
                <a:latin typeface="Aptos Narrow" panose="020B0004020202020204" pitchFamily="34" charset="0"/>
              </a:rPr>
              <a:t>e</a:t>
            </a:r>
            <a:r>
              <a:rPr lang="it-IT" i="1" dirty="0">
                <a:latin typeface="Aptos Narrow" panose="020B0004020202020204" pitchFamily="34" charset="0"/>
              </a:rPr>
              <a:t> Andrew G. </a:t>
            </a:r>
            <a:r>
              <a:rPr lang="it-IT" i="1" dirty="0" err="1">
                <a:latin typeface="Aptos Narrow" panose="020B0004020202020204" pitchFamily="34" charset="0"/>
              </a:rPr>
              <a:t>Barto</a:t>
            </a:r>
            <a:r>
              <a:rPr lang="it-IT" dirty="0">
                <a:latin typeface="Aptos Narrow" panose="020B0004020202020204" pitchFamily="34" charset="0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949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AFDCF6-6DB3-0AFE-690D-12109264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it-IT" dirty="0">
                <a:latin typeface="Aptos Narrow" panose="020B0004020202020204" pitchFamily="34" charset="0"/>
              </a:rPr>
              <a:t>INTRODUCTION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B50C0AB-3374-D786-3966-681D15DA8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173890"/>
              </p:ext>
            </p:extLst>
          </p:nvPr>
        </p:nvGraphicFramePr>
        <p:xfrm>
          <a:off x="914400" y="2398907"/>
          <a:ext cx="10363200" cy="3899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4927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D6478F-CF24-2620-9586-0A1B8583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ptos Narrow" panose="020B0004020202020204" pitchFamily="34" charset="0"/>
              </a:rPr>
              <a:t>STATE SPACE AND ACTIONS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BAFEE7D6-D630-F8AD-69FC-967742071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556275"/>
              </p:ext>
            </p:extLst>
          </p:nvPr>
        </p:nvGraphicFramePr>
        <p:xfrm>
          <a:off x="549577" y="2468881"/>
          <a:ext cx="11148633" cy="3685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7">
            <a:extLst>
              <a:ext uri="{FF2B5EF4-FFF2-40B4-BE49-F238E27FC236}">
                <a16:creationId xmlns:a16="http://schemas.microsoft.com/office/drawing/2014/main" id="{05D02935-7342-5569-5FCB-3E7B874CF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20" y="3239627"/>
            <a:ext cx="658177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9">
            <a:extLst>
              <a:ext uri="{FF2B5EF4-FFF2-40B4-BE49-F238E27FC236}">
                <a16:creationId xmlns:a16="http://schemas.microsoft.com/office/drawing/2014/main" id="{8677350E-C6EB-9C86-EABC-AF87C61C4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472" y="4810473"/>
            <a:ext cx="5701673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85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A0CA9D-EF8E-D210-B42A-7B2B4A4F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ptos Narrow" panose="020B0004020202020204" pitchFamily="34" charset="0"/>
              </a:rPr>
              <a:t>DYNAMICS OF THE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5">
                <a:extLst>
                  <a:ext uri="{FF2B5EF4-FFF2-40B4-BE49-F238E27FC236}">
                    <a16:creationId xmlns:a16="http://schemas.microsoft.com/office/drawing/2014/main" id="{45AB16B8-8861-21AB-E546-48E6E334A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25213"/>
                <a:ext cx="10890928" cy="35744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The physics of the system is simplified and the </a:t>
                </a:r>
                <a:r>
                  <a:rPr lang="en-US" b="1" dirty="0">
                    <a:latin typeface="Aptos Narrow" panose="020B0004020202020204" pitchFamily="34" charset="0"/>
                  </a:rPr>
                  <a:t>discrete-time </a:t>
                </a:r>
                <a:r>
                  <a:rPr lang="en-US" dirty="0">
                    <a:latin typeface="Aptos Narrow" panose="020B0004020202020204" pitchFamily="34" charset="0"/>
                  </a:rPr>
                  <a:t>dynamics is governed by the following equations of state </a:t>
                </a:r>
                <a:r>
                  <a:rPr lang="it-IT" dirty="0">
                    <a:latin typeface="Aptos Narrow" panose="020B00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it-IT" b="1" dirty="0">
                    <a:latin typeface="Aptos Narrow" panose="020B0004020202020204" pitchFamily="34" charset="0"/>
                  </a:rPr>
                  <a:t>NOTE</a:t>
                </a:r>
                <a:r>
                  <a:rPr lang="it-IT" dirty="0">
                    <a:latin typeface="Aptos Narrow" panose="020B0004020202020204" pitchFamily="34" charset="0"/>
                  </a:rPr>
                  <a:t>: </a:t>
                </a:r>
                <a:r>
                  <a:rPr lang="it-IT" dirty="0" err="1">
                    <a:latin typeface="Aptos Narrow" panose="020B0004020202020204" pitchFamily="34" charset="0"/>
                  </a:rPr>
                  <a:t>if</a:t>
                </a:r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 the episode ends </a:t>
                </a:r>
                <a:r>
                  <a:rPr lang="it-IT" b="1" dirty="0">
                    <a:latin typeface="Aptos Narrow" panose="020B0004020202020204" pitchFamily="34" charset="0"/>
                  </a:rPr>
                  <a:t>successfully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6" name="Segnaposto contenuto 5">
                <a:extLst>
                  <a:ext uri="{FF2B5EF4-FFF2-40B4-BE49-F238E27FC236}">
                    <a16:creationId xmlns:a16="http://schemas.microsoft.com/office/drawing/2014/main" id="{45AB16B8-8861-21AB-E546-48E6E334A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25213"/>
                <a:ext cx="10890928" cy="3574419"/>
              </a:xfrm>
              <a:blipFill>
                <a:blip r:embed="rId2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419EA46B-FC81-36FE-E9D9-10BF5A9E0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845" y="4002834"/>
            <a:ext cx="7836310" cy="819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16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E6B7A5-6A90-B721-E2CF-191EA508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ptos Narrow" panose="020B0004020202020204" pitchFamily="34" charset="0"/>
              </a:rPr>
              <a:t>REWARD AND INITIAL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A1B8197-2299-11B7-EACB-EBF982CCCC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it-IT" b="1" dirty="0">
                    <a:latin typeface="Aptos Narrow" panose="020B0004020202020204" pitchFamily="34" charset="0"/>
                  </a:rPr>
                  <a:t>REWARD</a:t>
                </a:r>
                <a:r>
                  <a:rPr lang="it-IT" dirty="0">
                    <a:latin typeface="Aptos Narrow" panose="020B0004020202020204" pitchFamily="34" charset="0"/>
                  </a:rPr>
                  <a:t>: </a:t>
                </a:r>
              </a:p>
              <a:p>
                <a:pPr marL="0" indent="0">
                  <a:buNone/>
                </a:pPr>
                <a:r>
                  <a:rPr lang="it-IT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, </a:t>
                </a:r>
                <a:r>
                  <a:rPr lang="en-US" dirty="0">
                    <a:latin typeface="Aptos Narrow" panose="020B0004020202020204" pitchFamily="34" charset="0"/>
                  </a:rPr>
                  <a:t>for each step k where the goal is </a:t>
                </a:r>
                <a:r>
                  <a:rPr lang="en-US" u="sng" dirty="0">
                    <a:latin typeface="Aptos Narrow" panose="020B0004020202020204" pitchFamily="34" charset="0"/>
                  </a:rPr>
                  <a:t>not</a:t>
                </a:r>
                <a:r>
                  <a:rPr lang="en-US" dirty="0">
                    <a:latin typeface="Aptos Narrow" panose="020B0004020202020204" pitchFamily="34" charset="0"/>
                  </a:rPr>
                  <a:t> achieved</a:t>
                </a: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it-IT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, </a:t>
                </a:r>
                <a:r>
                  <a:rPr lang="en-US" dirty="0">
                    <a:latin typeface="Aptos Narrow" panose="020B0004020202020204" pitchFamily="34" charset="0"/>
                  </a:rPr>
                  <a:t>when the goal is </a:t>
                </a:r>
                <a:r>
                  <a:rPr lang="en-US" b="1" dirty="0">
                    <a:latin typeface="Aptos Narrow" panose="020B0004020202020204" pitchFamily="34" charset="0"/>
                  </a:rPr>
                  <a:t>achieved</a:t>
                </a:r>
                <a:endParaRPr lang="it-IT" b="1" dirty="0">
                  <a:latin typeface="Aptos Narrow" panose="020B0004020202020204" pitchFamily="34" charset="0"/>
                </a:endParaRPr>
              </a:p>
              <a:p>
                <a:r>
                  <a:rPr lang="it-IT" b="1" dirty="0">
                    <a:latin typeface="Aptos Narrow" panose="020B0004020202020204" pitchFamily="34" charset="0"/>
                  </a:rPr>
                  <a:t>INITIAL CONDITIONS:</a:t>
                </a:r>
              </a:p>
              <a:p>
                <a:pPr marL="0" indent="0">
                  <a:buNone/>
                </a:pPr>
                <a:r>
                  <a:rPr lang="it-IT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:r>
                  <a:rPr lang="en-US" u="sng" dirty="0">
                    <a:latin typeface="Aptos Narrow" panose="020B0004020202020204" pitchFamily="34" charset="0"/>
                  </a:rPr>
                  <a:t>random</a:t>
                </a:r>
                <a:r>
                  <a:rPr lang="en-US" dirty="0">
                    <a:latin typeface="Aptos Narrow" panose="020B0004020202020204" pitchFamily="34" charset="0"/>
                  </a:rPr>
                  <a:t> real value in the range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[−0.6, −0.4]</m:t>
                    </m:r>
                  </m:oMath>
                </a14:m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it-IT" b="1" dirty="0">
                    <a:latin typeface="Aptos Narrow" panose="020B0004020202020204" pitchFamily="34" charset="0"/>
                  </a:rPr>
                  <a:t>OBS</a:t>
                </a:r>
                <a:r>
                  <a:rPr lang="it-IT" dirty="0">
                    <a:latin typeface="Aptos Narrow" panose="020B00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The </a:t>
                </a:r>
                <a:r>
                  <a:rPr lang="en-US" u="sng" dirty="0">
                    <a:latin typeface="Aptos Narrow" panose="020B0004020202020204" pitchFamily="34" charset="0"/>
                  </a:rPr>
                  <a:t>goal</a:t>
                </a:r>
                <a:r>
                  <a:rPr lang="en-US" dirty="0">
                    <a:latin typeface="Aptos Narrow" panose="020B0004020202020204" pitchFamily="34" charset="0"/>
                  </a:rPr>
                  <a:t> is to </a:t>
                </a:r>
                <a:r>
                  <a:rPr lang="en-US" b="1" dirty="0">
                    <a:latin typeface="Aptos Narrow" panose="020B0004020202020204" pitchFamily="34" charset="0"/>
                  </a:rPr>
                  <a:t>minimize the reward</a:t>
                </a:r>
                <a:r>
                  <a:rPr lang="en-US" dirty="0">
                    <a:latin typeface="Aptos Narrow" panose="020B0004020202020204" pitchFamily="34" charset="0"/>
                  </a:rPr>
                  <a:t>, that is, minimize the time it takes to climb to the top </a:t>
                </a:r>
              </a:p>
              <a:p>
                <a:pPr marL="0" indent="0">
                  <a:buNone/>
                </a:pPr>
                <a:endParaRPr lang="it-IT" dirty="0">
                  <a:latin typeface="Aptos Narrow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A1B8197-2299-11B7-EACB-EBF982CCCC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76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0EF794-EC01-0667-F293-388B51AC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ptos Narrow" panose="020B0004020202020204" pitchFamily="34" charset="0"/>
              </a:rPr>
              <a:t>RESOLUTION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EAB600A-3AB5-900E-AC2D-525C2E4B54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We adopt a comparative approach between two learning methods:</a:t>
                </a:r>
                <a:endParaRPr lang="it-IT" dirty="0">
                  <a:latin typeface="Aptos Narrow" panose="020B00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it-IT" b="1" dirty="0">
                    <a:latin typeface="Aptos Narrow" panose="020B0004020202020204" pitchFamily="34" charset="0"/>
                  </a:rPr>
                  <a:t>Q-Learning Tabular: </a:t>
                </a:r>
                <a:r>
                  <a:rPr lang="en-US" dirty="0">
                    <a:latin typeface="Aptos Narrow" panose="020B0004020202020204" pitchFamily="34" charset="0"/>
                  </a:rPr>
                  <a:t>in order to describe the update of</a:t>
                </a:r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 and display </a:t>
                </a:r>
                <a:r>
                  <a:rPr lang="it-IT" dirty="0" err="1">
                    <a:latin typeface="Aptos Narrow" panose="020B0004020202020204" pitchFamily="34" charset="0"/>
                  </a:rPr>
                  <a:t>it</a:t>
                </a:r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:r>
                  <a:rPr lang="it-IT" dirty="0" err="1">
                    <a:latin typeface="Aptos Narrow" panose="020B0004020202020204" pitchFamily="34" charset="0"/>
                  </a:rPr>
                  <a:t>explicitly</a:t>
                </a:r>
                <a:r>
                  <a:rPr lang="it-IT" dirty="0">
                    <a:latin typeface="Aptos Narrow" panose="020B000402020202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it-IT" b="1" dirty="0">
                    <a:latin typeface="Aptos Narrow" panose="020B0004020202020204" pitchFamily="34" charset="0"/>
                  </a:rPr>
                  <a:t>Q-Learning with </a:t>
                </a:r>
                <a:r>
                  <a:rPr lang="it-IT" b="1" dirty="0" err="1">
                    <a:latin typeface="Aptos Narrow" panose="020B0004020202020204" pitchFamily="34" charset="0"/>
                  </a:rPr>
                  <a:t>Function</a:t>
                </a:r>
                <a:r>
                  <a:rPr lang="it-IT" b="1" dirty="0">
                    <a:latin typeface="Aptos Narrow" panose="020B0004020202020204" pitchFamily="34" charset="0"/>
                  </a:rPr>
                  <a:t> </a:t>
                </a:r>
                <a:r>
                  <a:rPr lang="it-IT" b="1" dirty="0" err="1">
                    <a:latin typeface="Aptos Narrow" panose="020B0004020202020204" pitchFamily="34" charset="0"/>
                  </a:rPr>
                  <a:t>Approximation</a:t>
                </a:r>
                <a:r>
                  <a:rPr lang="it-IT" b="1" dirty="0">
                    <a:latin typeface="Aptos Narrow" panose="020B0004020202020204" pitchFamily="34" charset="0"/>
                  </a:rPr>
                  <a:t>:</a:t>
                </a:r>
                <a:r>
                  <a:rPr lang="it-IT" dirty="0">
                    <a:latin typeface="Aptos Narrow" panose="020B0004020202020204" pitchFamily="34" charset="0"/>
                  </a:rPr>
                  <a:t> </a:t>
                </a:r>
                <a:r>
                  <a:rPr lang="en-US" dirty="0">
                    <a:latin typeface="Aptos Narrow" panose="020B0004020202020204" pitchFamily="34" charset="0"/>
                  </a:rPr>
                  <a:t> in order to demonstrate that this learning method allows for a more efficient management of continuous space</a:t>
                </a:r>
                <a:endParaRPr lang="it-IT" dirty="0">
                  <a:latin typeface="Aptos Narrow" panose="020B00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EAB600A-3AB5-900E-AC2D-525C2E4B54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50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9A4D820-AB16-B638-A88D-43E78AD3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914400"/>
            <a:ext cx="5032249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600" dirty="0">
                <a:latin typeface="Aptos Narrow" panose="020B0004020202020204" pitchFamily="34" charset="0"/>
              </a:rPr>
              <a:t>Q-LEARNING TABULAR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5C8035-F8A8-1A27-7FE9-C576E73D2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 Narrow" panose="020B0004020202020204" pitchFamily="34" charset="0"/>
              </a:rPr>
              <a:t>Once the system parameters have been defined, we have:</a:t>
            </a:r>
            <a:endParaRPr lang="it-IT" dirty="0">
              <a:latin typeface="Aptos Narrow" panose="020B0004020202020204" pitchFamily="34" charset="0"/>
            </a:endParaRPr>
          </a:p>
          <a:p>
            <a:r>
              <a:rPr lang="en-US" b="1" dirty="0">
                <a:latin typeface="Aptos Narrow" panose="020B0004020202020204" pitchFamily="34" charset="0"/>
              </a:rPr>
              <a:t>discretized</a:t>
            </a:r>
            <a:r>
              <a:rPr lang="en-US" dirty="0">
                <a:latin typeface="Aptos Narrow" panose="020B0004020202020204" pitchFamily="34" charset="0"/>
              </a:rPr>
              <a:t> the continuous state space</a:t>
            </a:r>
          </a:p>
          <a:p>
            <a:r>
              <a:rPr lang="en-US" dirty="0">
                <a:latin typeface="Aptos Narrow" panose="020B0004020202020204" pitchFamily="34" charset="0"/>
              </a:rPr>
              <a:t>applied the </a:t>
            </a:r>
            <a:r>
              <a:rPr lang="en-US" b="1" i="1" dirty="0">
                <a:latin typeface="Aptos Narrow" panose="020B0004020202020204" pitchFamily="34" charset="0"/>
              </a:rPr>
              <a:t>Q-Learning Algorithm</a:t>
            </a:r>
          </a:p>
          <a:p>
            <a:r>
              <a:rPr lang="en-US" b="1" dirty="0">
                <a:latin typeface="Aptos Narrow" panose="020B0004020202020204" pitchFamily="34" charset="0"/>
              </a:rPr>
              <a:t>plotted</a:t>
            </a:r>
            <a:r>
              <a:rPr lang="en-US" dirty="0">
                <a:latin typeface="Aptos Narrow" panose="020B0004020202020204" pitchFamily="34" charset="0"/>
              </a:rPr>
              <a:t> the results obtained</a:t>
            </a:r>
          </a:p>
          <a:p>
            <a:endParaRPr lang="it-IT" dirty="0">
              <a:latin typeface="Aptos Narrow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8FCBDBC-0EE9-EA97-9B27-39B91BA7B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328" y="914401"/>
            <a:ext cx="6335452" cy="508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2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3307D49-1846-1CF9-42D9-C6726252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it-IT" dirty="0">
                <a:latin typeface="Aptos Narrow" panose="020B0004020202020204" pitchFamily="34" charset="0"/>
              </a:rPr>
              <a:t>Q-LEARNING TABULAR - 3D display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E6996C0-1B28-3F11-49C5-044E6673B8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5150" y="2256287"/>
                <a:ext cx="4563618" cy="3760459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dirty="0">
                    <a:latin typeface="Aptos Narrow" panose="020B0004020202020204" pitchFamily="34" charset="0"/>
                  </a:rPr>
                  <a:t>This display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𝑜𝑝𝑡𝑖𝑚𝑎𝑙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:r>
                  <a:rPr lang="en-US" dirty="0">
                    <a:latin typeface="Aptos Narrow" panose="020B0004020202020204" pitchFamily="34" charset="0"/>
                  </a:rPr>
                  <a:t>shows us how </a:t>
                </a:r>
                <a:r>
                  <a:rPr lang="en-US" i="1" dirty="0">
                    <a:latin typeface="Aptos Narrow" panose="020B0004020202020204" pitchFamily="34" charset="0"/>
                  </a:rPr>
                  <a:t>«good» </a:t>
                </a:r>
                <a:r>
                  <a:rPr lang="en-US" dirty="0">
                    <a:latin typeface="Aptos Narrow" panose="020B0004020202020204" pitchFamily="34" charset="0"/>
                  </a:rPr>
                  <a:t>a given state is in relation to achieving the final goal.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b="1" dirty="0">
                    <a:latin typeface="Aptos Narrow" panose="020B0004020202020204" pitchFamily="34" charset="0"/>
                  </a:rPr>
                  <a:t>OBS</a:t>
                </a:r>
                <a:r>
                  <a:rPr lang="it-IT" dirty="0">
                    <a:latin typeface="Aptos Narrow" panose="020B0004020202020204" pitchFamily="34" charset="0"/>
                  </a:rPr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b="1" dirty="0">
                    <a:latin typeface="Aptos Narrow" panose="020B0004020202020204" pitchFamily="34" charset="0"/>
                  </a:rPr>
                  <a:t>Valley (blue zone): </a:t>
                </a:r>
                <a:r>
                  <a:rPr lang="en-US" dirty="0">
                    <a:latin typeface="Aptos Narrow" panose="020B0004020202020204" pitchFamily="34" charset="0"/>
                  </a:rPr>
                  <a:t>coordinates </a:t>
                </a:r>
                <a:r>
                  <a:rPr lang="it-IT" i="1" dirty="0">
                    <a:latin typeface="Aptos Narrow" panose="020B0004020202020204" pitchFamily="34" charset="0"/>
                  </a:rPr>
                  <a:t>Position </a:t>
                </a:r>
                <a:r>
                  <a:rPr lang="en-US" dirty="0">
                    <a:latin typeface="Aptos Narrow" panose="020B0004020202020204" pitchFamily="34" charset="0"/>
                  </a:rPr>
                  <a:t>between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[−0.5, 0]</m:t>
                    </m:r>
                  </m:oMath>
                </a14:m>
                <a:endParaRPr lang="it-IT" dirty="0">
                  <a:latin typeface="Aptos Narrow" panose="020B000402020202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it-IT" b="1" dirty="0">
                    <a:latin typeface="Aptos Narrow" panose="020B0004020202020204" pitchFamily="34" charset="0"/>
                  </a:rPr>
                  <a:t>Left Wall: </a:t>
                </a:r>
                <a:r>
                  <a:rPr lang="it-IT" dirty="0">
                    <a:latin typeface="Aptos Narrow" panose="020B0004020202020204" pitchFamily="34" charset="0"/>
                  </a:rPr>
                  <a:t>coordinate</a:t>
                </a:r>
                <a:r>
                  <a:rPr lang="it-IT" i="1" dirty="0">
                    <a:latin typeface="Aptos Narrow" panose="020B0004020202020204" pitchFamily="34" charset="0"/>
                  </a:rPr>
                  <a:t> Position</a:t>
                </a:r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−1.2</m:t>
                    </m:r>
                  </m:oMath>
                </a14:m>
                <a:endParaRPr lang="it-IT" dirty="0">
                  <a:latin typeface="Aptos Narrow" panose="020B000402020202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E6996C0-1B28-3F11-49C5-044E6673B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5150" y="2256287"/>
                <a:ext cx="4563618" cy="3760459"/>
              </a:xfrm>
              <a:blipFill>
                <a:blip r:embed="rId3"/>
                <a:stretch>
                  <a:fillRect l="-1335" r="-14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 descr="Immagine che contiene diagramma, schermat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9B608A16-7CB6-ADC4-FE4B-7E0757CD1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35" y="1848900"/>
            <a:ext cx="5235392" cy="409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64948E-6F17-E676-E1E5-53D2F58A0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811076"/>
            <a:ext cx="10847494" cy="1171069"/>
          </a:xfrm>
        </p:spPr>
        <p:txBody>
          <a:bodyPr anchor="t">
            <a:normAutofit/>
          </a:bodyPr>
          <a:lstStyle/>
          <a:p>
            <a:r>
              <a:rPr lang="it-IT" dirty="0">
                <a:latin typeface="Aptos Narrow" panose="020B0004020202020204" pitchFamily="34" charset="0"/>
              </a:rPr>
              <a:t>Q-LEARNING TABULAR -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85ADFE-2523-C845-37F7-B0DDC2542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077" y="2119216"/>
            <a:ext cx="4791180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 Narrow" panose="020B0004020202020204" pitchFamily="34" charset="0"/>
              </a:rPr>
              <a:t>We tested our agent on a 1000-step episode. </a:t>
            </a:r>
          </a:p>
          <a:p>
            <a:pPr marL="0" indent="0">
              <a:buNone/>
            </a:pPr>
            <a:r>
              <a:rPr lang="en-US" b="1" dirty="0">
                <a:latin typeface="Aptos Narrow" panose="020B0004020202020204" pitchFamily="34" charset="0"/>
              </a:rPr>
              <a:t>Video animation </a:t>
            </a:r>
            <a:r>
              <a:rPr lang="en-US" dirty="0">
                <a:latin typeface="Aptos Narrow" panose="020B0004020202020204" pitchFamily="34" charset="0"/>
              </a:rPr>
              <a:t>shows us that our agent has learned and is able to complete the task assigned to him: goal achieved in </a:t>
            </a:r>
            <a:r>
              <a:rPr lang="en-US" b="1" dirty="0">
                <a:latin typeface="Aptos Narrow" panose="020B0004020202020204" pitchFamily="34" charset="0"/>
              </a:rPr>
              <a:t>152 steps</a:t>
            </a:r>
            <a:r>
              <a:rPr lang="en-US" dirty="0">
                <a:latin typeface="Aptos Narrow" panose="020B0004020202020204" pitchFamily="34" charset="0"/>
              </a:rPr>
              <a:t>.</a:t>
            </a:r>
            <a:endParaRPr lang="en-US" b="1" dirty="0">
              <a:latin typeface="Aptos Narrow" panose="020B0004020202020204" pitchFamily="34" charset="0"/>
            </a:endParaRPr>
          </a:p>
          <a:p>
            <a:pPr marL="0" indent="0">
              <a:buNone/>
            </a:pPr>
            <a:endParaRPr lang="it-IT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nimation_Mountain_Car">
            <a:hlinkClick r:id="" action="ppaction://media"/>
            <a:extLst>
              <a:ext uri="{FF2B5EF4-FFF2-40B4-BE49-F238E27FC236}">
                <a16:creationId xmlns:a16="http://schemas.microsoft.com/office/drawing/2014/main" id="{447B06F2-D104-51F8-D205-25304DDCCC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2743" y="1770225"/>
            <a:ext cx="5909024" cy="44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3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0CB43C0-D773-68CC-C329-B4E4FB4B2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it-IT" dirty="0">
                <a:latin typeface="Aptos Narrow" panose="020B0004020202020204" pitchFamily="34" charset="0"/>
              </a:rPr>
              <a:t>Q-LEARNING WITH FUNCTION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03081EF-3A52-196D-10D4-017AEA3F70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42296" y="2172186"/>
                <a:ext cx="5488685" cy="4013880"/>
              </a:xfrm>
            </p:spPr>
            <p:txBody>
              <a:bodyPr anchor="t"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We want to cover 2D space with </a:t>
                </a:r>
                <a:r>
                  <a:rPr lang="en-US" b="1" dirty="0">
                    <a:latin typeface="Aptos Narrow" panose="020B0004020202020204" pitchFamily="34" charset="0"/>
                  </a:rPr>
                  <a:t>Gaussian functions</a:t>
                </a:r>
                <a:r>
                  <a:rPr lang="en-US" dirty="0">
                    <a:latin typeface="Aptos Narrow" panose="020B0004020202020204" pitchFamily="34" charset="0"/>
                  </a:rPr>
                  <a:t>, so:</a:t>
                </a:r>
                <a:endParaRPr lang="it-IT" dirty="0">
                  <a:latin typeface="Aptos Narrow" panose="020B000402020202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Aptos Narrow" panose="020B0004020202020204" pitchFamily="34" charset="0"/>
                  </a:rPr>
                  <a:t>let’s define a </a:t>
                </a:r>
                <a:r>
                  <a:rPr lang="en-US" b="1" dirty="0">
                    <a:latin typeface="Aptos Narrow" panose="020B0004020202020204" pitchFamily="34" charset="0"/>
                  </a:rPr>
                  <a:t>grid of centers </a:t>
                </a:r>
                <a:endParaRPr lang="it-IT" b="1" dirty="0">
                  <a:latin typeface="Aptos Narrow" panose="020B000402020202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it-IT" dirty="0" err="1">
                    <a:latin typeface="Aptos Narrow" panose="020B0004020202020204" pitchFamily="34" charset="0"/>
                  </a:rPr>
                  <a:t>we</a:t>
                </a:r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:r>
                  <a:rPr lang="it-IT" dirty="0" err="1">
                    <a:latin typeface="Aptos Narrow" panose="020B0004020202020204" pitchFamily="34" charset="0"/>
                  </a:rPr>
                  <a:t>calculate</a:t>
                </a:r>
                <a:r>
                  <a:rPr lang="it-IT" dirty="0">
                    <a:latin typeface="Aptos Narrow" panose="020B0004020202020204" pitchFamily="34" charset="0"/>
                  </a:rPr>
                  <a:t> the </a:t>
                </a:r>
                <a:r>
                  <a:rPr lang="it-IT" b="1" dirty="0" err="1">
                    <a:latin typeface="Aptos Narrow" panose="020B0004020202020204" pitchFamily="34" charset="0"/>
                  </a:rPr>
                  <a:t>widths</a:t>
                </a:r>
                <a:r>
                  <a:rPr lang="it-IT" b="1" dirty="0">
                    <a:latin typeface="Aptos Narrow" panose="020B00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it-IT" b="1" dirty="0">
                    <a:latin typeface="Aptos Narrow" panose="020B0004020202020204" pitchFamily="34" charset="0"/>
                  </a:rPr>
                  <a:t>)</a:t>
                </a:r>
                <a:r>
                  <a:rPr lang="it-IT" dirty="0">
                    <a:latin typeface="Aptos Narrow" panose="020B0004020202020204" pitchFamily="34" charset="0"/>
                  </a:rPr>
                  <a:t> of the BF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Aptos Narrow" panose="020B0004020202020204" pitchFamily="34" charset="0"/>
                  </a:rPr>
                  <a:t>we perform the </a:t>
                </a:r>
                <a:r>
                  <a:rPr lang="en-US" b="1" i="1" dirty="0">
                    <a:latin typeface="Aptos Narrow" panose="020B0004020202020204" pitchFamily="34" charset="0"/>
                  </a:rPr>
                  <a:t>Q-Learning Algorithm with RBF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Aptos Narrow" panose="020B0004020202020204" pitchFamily="34" charset="0"/>
                  </a:rPr>
                  <a:t>let's </a:t>
                </a:r>
                <a:r>
                  <a:rPr lang="en-US" b="1" dirty="0">
                    <a:latin typeface="Aptos Narrow" panose="020B0004020202020204" pitchFamily="34" charset="0"/>
                  </a:rPr>
                  <a:t>plot</a:t>
                </a:r>
                <a:r>
                  <a:rPr lang="en-US" dirty="0">
                    <a:latin typeface="Aptos Narrow" panose="020B0004020202020204" pitchFamily="34" charset="0"/>
                  </a:rPr>
                  <a:t> the results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03081EF-3A52-196D-10D4-017AEA3F7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2296" y="2172186"/>
                <a:ext cx="5488685" cy="4013880"/>
              </a:xfrm>
              <a:blipFill>
                <a:blip r:embed="rId3"/>
                <a:stretch>
                  <a:fillRect l="-1110" t="-3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A6C291E-5D6F-F935-7C94-86805D07C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27" y="1843901"/>
            <a:ext cx="5391574" cy="401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0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DF10C8-BEA7-2913-88ED-19235894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74" y="316824"/>
            <a:ext cx="9830303" cy="6277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400" dirty="0">
                <a:latin typeface="Aptos Narrow" panose="020B0004020202020204" pitchFamily="34" charset="0"/>
              </a:rPr>
              <a:t>Q-LEARNING WITH RBF -  3D display and Test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00B772D-2F4C-6038-261D-2B13BC574C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3232" y="1218162"/>
                <a:ext cx="9174346" cy="1459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As done for the Q-Learning Tabular we show </a:t>
                </a:r>
                <a:r>
                  <a:rPr lang="it-IT" dirty="0">
                    <a:latin typeface="Aptos Narrow" panose="020B0004020202020204" pitchFamily="34" charset="0"/>
                  </a:rPr>
                  <a:t>:</a:t>
                </a:r>
              </a:p>
              <a:p>
                <a:r>
                  <a:rPr lang="it-IT" b="1" dirty="0">
                    <a:latin typeface="Aptos Narrow" panose="020B0004020202020204" pitchFamily="34" charset="0"/>
                  </a:rPr>
                  <a:t>3D Display of the </a:t>
                </a:r>
                <a:r>
                  <a:rPr lang="it-IT" b="1" dirty="0" err="1">
                    <a:latin typeface="Aptos Narrow" panose="020B0004020202020204" pitchFamily="34" charset="0"/>
                  </a:rPr>
                  <a:t>optimal</a:t>
                </a:r>
                <a:r>
                  <a:rPr lang="it-IT" b="1" dirty="0">
                    <a:latin typeface="Aptos Narrow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  </a:t>
                </a:r>
                <a:endParaRPr lang="it-IT" b="1" dirty="0">
                  <a:latin typeface="Aptos Narrow" panose="020B0004020202020204" pitchFamily="34" charset="0"/>
                </a:endParaRPr>
              </a:p>
              <a:p>
                <a:r>
                  <a:rPr lang="en-US" b="1" dirty="0">
                    <a:latin typeface="Aptos Narrow" panose="020B0004020202020204" pitchFamily="34" charset="0"/>
                  </a:rPr>
                  <a:t>Video Animation </a:t>
                </a:r>
                <a:r>
                  <a:rPr lang="en-US" dirty="0">
                    <a:latin typeface="Aptos Narrow" panose="020B0004020202020204" pitchFamily="34" charset="0"/>
                  </a:rPr>
                  <a:t>representing a </a:t>
                </a:r>
                <a:r>
                  <a:rPr lang="en-US" b="1" dirty="0">
                    <a:latin typeface="Aptos Narrow" panose="020B0004020202020204" pitchFamily="34" charset="0"/>
                  </a:rPr>
                  <a:t>500-step</a:t>
                </a:r>
                <a:r>
                  <a:rPr lang="en-US" dirty="0">
                    <a:latin typeface="Aptos Narrow" panose="020B0004020202020204" pitchFamily="34" charset="0"/>
                  </a:rPr>
                  <a:t> episode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00B772D-2F4C-6038-261D-2B13BC574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3232" y="1218162"/>
                <a:ext cx="9174346" cy="1459724"/>
              </a:xfrm>
              <a:blipFill>
                <a:blip r:embed="rId4"/>
                <a:stretch>
                  <a:fillRect l="-664" b="-62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656A00E2-A75E-B261-6AF1-9D0C6E27B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792" y="2773346"/>
            <a:ext cx="4715817" cy="3591454"/>
          </a:xfrm>
          <a:prstGeom prst="rect">
            <a:avLst/>
          </a:prstGeom>
        </p:spPr>
      </p:pic>
      <p:pic>
        <p:nvPicPr>
          <p:cNvPr id="8" name="animation_Mountain_Car_RBF">
            <a:hlinkClick r:id="" action="ppaction://media"/>
            <a:extLst>
              <a:ext uri="{FF2B5EF4-FFF2-40B4-BE49-F238E27FC236}">
                <a16:creationId xmlns:a16="http://schemas.microsoft.com/office/drawing/2014/main" id="{15D1BEE6-259D-C8F9-8EA1-86B4DAB963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80855" y="2677886"/>
            <a:ext cx="5497913" cy="394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9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06E3B3-B165-D9AA-DEF8-FA81AF22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222166"/>
            <a:ext cx="10890929" cy="738553"/>
          </a:xfrm>
        </p:spPr>
        <p:txBody>
          <a:bodyPr/>
          <a:lstStyle/>
          <a:p>
            <a:r>
              <a:rPr lang="it-IT" dirty="0">
                <a:latin typeface="Aptos Narrow" panose="020B0004020202020204" pitchFamily="34" charset="0"/>
              </a:rPr>
              <a:t>ANALYSIS OF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1B279E6-3868-1761-5C2F-31F8DFC87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0536" y="1196558"/>
                <a:ext cx="10890928" cy="1566739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Going to analyze the behavior of our agent in the two cases, we notice some evident differences:</a:t>
                </a:r>
                <a:endParaRPr lang="it-IT" dirty="0">
                  <a:latin typeface="Aptos Narrow" panose="020B0004020202020204" pitchFamily="34" charset="0"/>
                </a:endParaRPr>
              </a:p>
              <a:p>
                <a:pPr lvl="0"/>
                <a:r>
                  <a:rPr lang="it-IT" b="1" u="sng" dirty="0">
                    <a:latin typeface="Aptos Narrow" panose="020B0004020202020204" pitchFamily="34" charset="0"/>
                  </a:rPr>
                  <a:t>Tabular</a:t>
                </a:r>
                <a:r>
                  <a:rPr lang="it-IT" dirty="0">
                    <a:latin typeface="Aptos Narrow" panose="020B0004020202020204" pitchFamily="34" charset="0"/>
                  </a:rPr>
                  <a:t>: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𝑜𝑝𝑡𝑖𝑚𝑎𝑙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 appears at </a:t>
                </a:r>
                <a:r>
                  <a:rPr lang="it-IT" b="1" dirty="0">
                    <a:latin typeface="Aptos Narrow" panose="020B0004020202020204" pitchFamily="34" charset="0"/>
                  </a:rPr>
                  <a:t>«steps»</a:t>
                </a:r>
                <a:r>
                  <a:rPr lang="it-IT" dirty="0">
                    <a:latin typeface="Aptos Narrow" panose="020B0004020202020204" pitchFamily="34" charset="0"/>
                  </a:rPr>
                  <a:t>.</a:t>
                </a:r>
                <a:endParaRPr lang="it-IT" b="1" dirty="0">
                  <a:latin typeface="Aptos Narrow" panose="020B0004020202020204" pitchFamily="34" charset="0"/>
                </a:endParaRPr>
              </a:p>
              <a:p>
                <a:pPr lvl="0"/>
                <a:r>
                  <a:rPr lang="it-IT" b="1" u="sng" dirty="0">
                    <a:latin typeface="Aptos Narrow" panose="020B0004020202020204" pitchFamily="34" charset="0"/>
                  </a:rPr>
                  <a:t>RBF</a:t>
                </a:r>
                <a:r>
                  <a:rPr lang="it-IT" dirty="0">
                    <a:latin typeface="Aptos Narrow" panose="020B0004020202020204" pitchFamily="34" charset="0"/>
                  </a:rPr>
                  <a:t>: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𝑜𝑝𝑡𝑖𝑚𝑎𝑙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:r>
                  <a:rPr lang="en-US" dirty="0">
                    <a:latin typeface="Aptos Narrow" panose="020B0004020202020204" pitchFamily="34" charset="0"/>
                  </a:rPr>
                  <a:t>will, instead, have a </a:t>
                </a:r>
                <a:r>
                  <a:rPr lang="en-US" b="1" dirty="0">
                    <a:latin typeface="Aptos Narrow" panose="020B0004020202020204" pitchFamily="34" charset="0"/>
                  </a:rPr>
                  <a:t>smooth</a:t>
                </a:r>
                <a:r>
                  <a:rPr lang="en-US" dirty="0">
                    <a:latin typeface="Aptos Narrow" panose="020B0004020202020204" pitchFamily="34" charset="0"/>
                  </a:rPr>
                  <a:t> and </a:t>
                </a:r>
                <a:r>
                  <a:rPr lang="en-US" b="1" dirty="0">
                    <a:latin typeface="Aptos Narrow" panose="020B0004020202020204" pitchFamily="34" charset="0"/>
                  </a:rPr>
                  <a:t>continuous </a:t>
                </a:r>
                <a:r>
                  <a:rPr lang="en-US" dirty="0">
                    <a:latin typeface="Aptos Narrow" panose="020B0004020202020204" pitchFamily="34" charset="0"/>
                  </a:rPr>
                  <a:t>surface</a:t>
                </a:r>
                <a:r>
                  <a:rPr lang="it-IT" dirty="0">
                    <a:latin typeface="Aptos Narrow" panose="020B0004020202020204" pitchFamily="34" charset="0"/>
                  </a:rPr>
                  <a:t>.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1B279E6-3868-1761-5C2F-31F8DFC87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536" y="1196558"/>
                <a:ext cx="10890928" cy="1566739"/>
              </a:xfrm>
              <a:blipFill>
                <a:blip r:embed="rId2"/>
                <a:stretch>
                  <a:fillRect l="-616" b="-19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4CA4DD62-46B9-9B55-7752-AED97138C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54" y="2763297"/>
            <a:ext cx="4715817" cy="3591454"/>
          </a:xfrm>
          <a:prstGeom prst="rect">
            <a:avLst/>
          </a:prstGeom>
        </p:spPr>
      </p:pic>
      <p:pic>
        <p:nvPicPr>
          <p:cNvPr id="7" name="Immagine 6" descr="Immagine che contiene diagramma, schermat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413C88D2-38CD-5F46-7542-68D3D6445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329" y="2763297"/>
            <a:ext cx="4715817" cy="371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4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1E6A92-0819-C6BD-C0FF-05AC3B86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ptos Narrow" panose="020B0004020202020204" pitchFamily="34" charset="0"/>
              </a:rPr>
              <a:t>EFFICIENCY OF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CA7C716-C4C7-9DBB-0E66-6BAC0BB37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it-IT" b="1" u="sng" dirty="0">
                    <a:latin typeface="Aptos Narrow" panose="020B0004020202020204" pitchFamily="34" charset="0"/>
                  </a:rPr>
                  <a:t>Tabular</a:t>
                </a:r>
                <a:r>
                  <a:rPr lang="it-IT" dirty="0">
                    <a:latin typeface="Aptos Narrow" panose="020B0004020202020204" pitchFamily="34" charset="0"/>
                  </a:rPr>
                  <a:t>: </a:t>
                </a:r>
                <a:r>
                  <a:rPr lang="it-IT" dirty="0" err="1">
                    <a:latin typeface="Aptos Narrow" panose="020B0004020202020204" pitchFamily="34" charset="0"/>
                  </a:rPr>
                  <a:t>grid</a:t>
                </a:r>
                <a:r>
                  <a:rPr lang="it-IT" dirty="0">
                    <a:latin typeface="Aptos Narrow" panose="020B0004020202020204" pitchFamily="34" charset="0"/>
                  </a:rPr>
                  <a:t> 40 x 40, so </a:t>
                </a:r>
                <a:r>
                  <a:rPr lang="it-IT" dirty="0">
                    <a:latin typeface="Aptos Narrow" panose="020B00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it-IT" dirty="0">
                    <a:latin typeface="Aptos Narrow" panose="020B0004020202020204" pitchFamily="34" charset="0"/>
                  </a:rPr>
                  <a:t> 40 x 40 x 3 (actions) = 4800 </a:t>
                </a:r>
                <a:r>
                  <a:rPr lang="it-IT" dirty="0" err="1">
                    <a:latin typeface="Aptos Narrow" panose="020B0004020202020204" pitchFamily="34" charset="0"/>
                  </a:rPr>
                  <a:t>values</a:t>
                </a:r>
                <a:endParaRPr lang="it-IT" dirty="0">
                  <a:latin typeface="Aptos Narrow" panose="020B0004020202020204" pitchFamily="34" charset="0"/>
                </a:endParaRPr>
              </a:p>
              <a:p>
                <a:pPr lvl="0"/>
                <a:r>
                  <a:rPr lang="it-IT" b="1" u="sng" dirty="0">
                    <a:latin typeface="Aptos Narrow" panose="020B0004020202020204" pitchFamily="34" charset="0"/>
                  </a:rPr>
                  <a:t>RBF</a:t>
                </a:r>
                <a:r>
                  <a:rPr lang="it-IT" dirty="0">
                    <a:latin typeface="Aptos Narrow" panose="020B0004020202020204" pitchFamily="34" charset="0"/>
                  </a:rPr>
                  <a:t>: </a:t>
                </a:r>
                <a:r>
                  <a:rPr lang="it-IT" dirty="0" err="1">
                    <a:latin typeface="Aptos Narrow" panose="020B0004020202020204" pitchFamily="34" charset="0"/>
                  </a:rPr>
                  <a:t>grid</a:t>
                </a:r>
                <a:r>
                  <a:rPr lang="it-IT" dirty="0">
                    <a:latin typeface="Aptos Narrow" panose="020B0004020202020204" pitchFamily="34" charset="0"/>
                  </a:rPr>
                  <a:t> 10 x 10 </a:t>
                </a:r>
                <a:r>
                  <a:rPr lang="it-IT" dirty="0">
                    <a:latin typeface="Aptos Narrow" panose="020B00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it-IT" dirty="0">
                    <a:latin typeface="Aptos Narrow" panose="020B0004020202020204" pitchFamily="34" charset="0"/>
                  </a:rPr>
                  <a:t> 10 x 10 x 3 (actions) = 300 </a:t>
                </a:r>
                <a:r>
                  <a:rPr lang="it-IT" dirty="0" err="1">
                    <a:latin typeface="Aptos Narrow" panose="020B0004020202020204" pitchFamily="34" charset="0"/>
                  </a:rPr>
                  <a:t>values</a:t>
                </a: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endParaRPr lang="it-IT" dirty="0"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RBF can achieve comparable (or even better) results using </a:t>
                </a:r>
                <a:r>
                  <a:rPr lang="en-US" b="1" dirty="0">
                    <a:latin typeface="Aptos Narrow" panose="020B0004020202020204" pitchFamily="34" charset="0"/>
                  </a:rPr>
                  <a:t>16 times less memory</a:t>
                </a:r>
                <a:r>
                  <a:rPr lang="en-US" dirty="0">
                    <a:latin typeface="Aptos Narrow" panose="020B0004020202020204" pitchFamily="34" charset="0"/>
                  </a:rPr>
                  <a:t>, thanks to </a:t>
                </a:r>
                <a:r>
                  <a:rPr lang="en-US" b="1" dirty="0">
                    <a:latin typeface="Aptos Narrow" panose="020B0004020202020204" pitchFamily="34" charset="0"/>
                  </a:rPr>
                  <a:t>generalization</a:t>
                </a:r>
                <a:r>
                  <a:rPr lang="en-US" dirty="0">
                    <a:latin typeface="Aptos Narrow" panose="020B0004020202020204" pitchFamily="34" charset="0"/>
                  </a:rPr>
                  <a:t> </a:t>
                </a:r>
                <a:r>
                  <a:rPr lang="it-IT" dirty="0">
                    <a:latin typeface="Aptos Narrow" panose="020B0004020202020204" pitchFamily="34" charset="0"/>
                  </a:rPr>
                  <a:t>: </a:t>
                </a:r>
                <a:r>
                  <a:rPr lang="it-IT" i="1" dirty="0">
                    <a:latin typeface="Aptos Narrow" panose="020B0004020202020204" pitchFamily="34" charset="0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</m:sub>
                    </m:sSub>
                  </m:oMath>
                </a14:m>
                <a:r>
                  <a:rPr lang="it-IT" dirty="0">
                    <a:latin typeface="Aptos Narrow" panose="020B0004020202020204" pitchFamily="34" charset="0"/>
                  </a:rPr>
                  <a:t> </a:t>
                </a:r>
                <a:r>
                  <a:rPr lang="en-US" dirty="0">
                    <a:latin typeface="Aptos Narrow" panose="020B0004020202020204" pitchFamily="34" charset="0"/>
                  </a:rPr>
                  <a:t>of a state also influence the values of neighboring states</a:t>
                </a:r>
                <a:r>
                  <a:rPr lang="it-IT" dirty="0">
                    <a:latin typeface="Aptos Narrow" panose="020B0004020202020204" pitchFamily="34" charset="0"/>
                  </a:rPr>
                  <a:t>.</a:t>
                </a:r>
                <a:r>
                  <a:rPr lang="en-US" dirty="0">
                    <a:latin typeface="Aptos Narrow" panose="020B00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ptos Narrow" panose="020B0004020202020204" pitchFamily="34" charset="0"/>
                  </a:rPr>
                  <a:t>This shows us the power of Function Approximation in solving the </a:t>
                </a:r>
                <a:r>
                  <a:rPr lang="en-US" b="1" dirty="0">
                    <a:latin typeface="Aptos Narrow" panose="020B0004020202020204" pitchFamily="34" charset="0"/>
                  </a:rPr>
                  <a:t>«Curse of Dimensionality»</a:t>
                </a:r>
                <a:r>
                  <a:rPr lang="en-US" dirty="0">
                    <a:latin typeface="Aptos Narrow" panose="020B0004020202020204" pitchFamily="34" charset="0"/>
                  </a:rPr>
                  <a:t>.</a:t>
                </a:r>
                <a:endParaRPr lang="it-IT" b="1" dirty="0">
                  <a:latin typeface="Aptos Narrow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CA7C716-C4C7-9DBB-0E66-6BAC0BB37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500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schermata, design, linea, arte&#10;&#10;Il contenuto generato dall'IA potrebbe non essere corretto.">
            <a:extLst>
              <a:ext uri="{FF2B5EF4-FFF2-40B4-BE49-F238E27FC236}">
                <a16:creationId xmlns:a16="http://schemas.microsoft.com/office/drawing/2014/main" id="{1B19D520-CF8C-42F7-8811-8F884B68FB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2"/>
          <a:stretch>
            <a:fillRect/>
          </a:stretch>
        </p:blipFill>
        <p:spPr>
          <a:xfrm>
            <a:off x="2" y="152"/>
            <a:ext cx="12191998" cy="6857848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35C8CE0-9D85-95E8-65A4-DBCEABBDE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052" y="1371600"/>
            <a:ext cx="5180617" cy="2696866"/>
          </a:xfrm>
        </p:spPr>
        <p:txBody>
          <a:bodyPr anchor="t">
            <a:normAutofit/>
          </a:bodyPr>
          <a:lstStyle/>
          <a:p>
            <a:r>
              <a:rPr lang="it-IT" dirty="0">
                <a:solidFill>
                  <a:srgbClr val="FFFFFF"/>
                </a:solidFill>
                <a:latin typeface="Aptos Narrow" panose="020B0004020202020204" pitchFamily="34" charset="0"/>
              </a:rPr>
              <a:t>THANKS FOR THE ATTENTION</a:t>
            </a:r>
          </a:p>
        </p:txBody>
      </p: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480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633</Words>
  <Application>Microsoft Office PowerPoint</Application>
  <PresentationFormat>Widescreen</PresentationFormat>
  <Paragraphs>67</Paragraphs>
  <Slides>14</Slides>
  <Notes>0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 Narrow</vt:lpstr>
      <vt:lpstr>Arial</vt:lpstr>
      <vt:lpstr>Cambria Math</vt:lpstr>
      <vt:lpstr>Grandview Display</vt:lpstr>
      <vt:lpstr>DashVTI</vt:lpstr>
      <vt:lpstr>MOUNTAIN CAR PROBLEM  </vt:lpstr>
      <vt:lpstr>INTRODUCTION</vt:lpstr>
      <vt:lpstr>STATE SPACE AND ACTIONS</vt:lpstr>
      <vt:lpstr>DYNAMICS OF THE SYSTEM</vt:lpstr>
      <vt:lpstr>REWARD AND INITIAL CONDITIONS</vt:lpstr>
      <vt:lpstr>RESOLUTION STRATEGY</vt:lpstr>
      <vt:lpstr>Q-LEARNING TABULAR</vt:lpstr>
      <vt:lpstr>Q-LEARNING TABULAR - 3D display</vt:lpstr>
      <vt:lpstr>Q-LEARNING TABULAR - Test</vt:lpstr>
      <vt:lpstr>Q-LEARNING WITH FUNCTION APPROXIMATION</vt:lpstr>
      <vt:lpstr>Q-LEARNING WITH RBF -  3D display and Test</vt:lpstr>
      <vt:lpstr>ANALYSIS OF SOLUTIONS</vt:lpstr>
      <vt:lpstr>EFFICIENCY OF PARAMETERS</vt:lpstr>
      <vt:lpstr>THANKS FOR THE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Santo</dc:creator>
  <cp:lastModifiedBy>Alessandro Di Santo</cp:lastModifiedBy>
  <cp:revision>7</cp:revision>
  <dcterms:created xsi:type="dcterms:W3CDTF">2026-01-19T16:57:10Z</dcterms:created>
  <dcterms:modified xsi:type="dcterms:W3CDTF">2026-01-20T06:31:24Z</dcterms:modified>
</cp:coreProperties>
</file>